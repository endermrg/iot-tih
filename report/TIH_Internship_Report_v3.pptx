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411480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4114800"/>
            <a:ext cx="12191695" cy="9144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9601200" y="274320"/>
            <a:ext cx="2194560" cy="2194560"/>
          </a:xfrm>
          <a:prstGeom prst="ellipse">
            <a:avLst/>
          </a:prstGeom>
          <a:solidFill>
            <a:srgbClr val="1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457200" y="2560320"/>
            <a:ext cx="2011680" cy="2011680"/>
          </a:xfrm>
          <a:prstGeom prst="ellipse">
            <a:avLst/>
          </a:prstGeom>
          <a:solidFill>
            <a:srgbClr val="1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10515600" y="2743200"/>
            <a:ext cx="1097280" cy="1097280"/>
          </a:xfrm>
          <a:prstGeom prst="ellipse">
            <a:avLst/>
          </a:prstGeom>
          <a:solidFill>
            <a:srgbClr val="23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640080"/>
            <a:ext cx="10332720" cy="914400"/>
          </a:xfrm>
          <a:prstGeom prst="rect">
            <a:avLst/>
          </a:prstGeom>
          <a:noFill/>
        </p:spPr>
        <p:txBody>
          <a:bodyPr wrap="square">
            <a:spAutoFit/>
          </a:bodyPr>
          <a:lstStyle/>
          <a:p>
            <a:pPr algn="ctr">
              <a:defRPr sz="5200" b="1" i="0">
                <a:solidFill>
                  <a:srgbClr val="FFFFFF"/>
                </a:solidFill>
                <a:latin typeface="Segoe UI Semibold"/>
              </a:defRPr>
            </a:pPr>
            <a:r>
              <a:t>INTERNSHIP REPORT</a:t>
            </a:r>
          </a:p>
        </p:txBody>
      </p:sp>
      <p:sp>
        <p:nvSpPr>
          <p:cNvPr id="9" name="TextBox 8"/>
          <p:cNvSpPr txBox="1"/>
          <p:nvPr/>
        </p:nvSpPr>
        <p:spPr>
          <a:xfrm>
            <a:off x="914400" y="1737360"/>
            <a:ext cx="10332720" cy="640080"/>
          </a:xfrm>
          <a:prstGeom prst="rect">
            <a:avLst/>
          </a:prstGeom>
          <a:noFill/>
        </p:spPr>
        <p:txBody>
          <a:bodyPr wrap="square">
            <a:spAutoFit/>
          </a:bodyPr>
          <a:lstStyle/>
          <a:p>
            <a:pPr algn="ctr">
              <a:defRPr sz="3400" b="0" i="0">
                <a:solidFill>
                  <a:srgbClr val="AAD2F5"/>
                </a:solidFill>
                <a:latin typeface="Segoe UI Light"/>
              </a:defRPr>
            </a:pPr>
            <a:r>
              <a:t>Internet of Things (IoT)</a:t>
            </a:r>
          </a:p>
        </p:txBody>
      </p:sp>
      <p:sp>
        <p:nvSpPr>
          <p:cNvPr id="10" name="Rectangle 9"/>
          <p:cNvSpPr/>
          <p:nvPr/>
        </p:nvSpPr>
        <p:spPr>
          <a:xfrm>
            <a:off x="5029200" y="2606040"/>
            <a:ext cx="2133295" cy="36576"/>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2788920"/>
            <a:ext cx="10332720" cy="548640"/>
          </a:xfrm>
          <a:prstGeom prst="rect">
            <a:avLst/>
          </a:prstGeom>
          <a:noFill/>
        </p:spPr>
        <p:txBody>
          <a:bodyPr wrap="square">
            <a:spAutoFit/>
          </a:bodyPr>
          <a:lstStyle/>
          <a:p>
            <a:pPr algn="ctr">
              <a:defRPr sz="2200" b="0" i="0">
                <a:solidFill>
                  <a:srgbClr val="BED7EB"/>
                </a:solidFill>
                <a:latin typeface="Segoe UI"/>
              </a:defRPr>
            </a:pPr>
            <a:r>
              <a:t>Technology Innovation Hub  |  IIT Guwahati</a:t>
            </a:r>
          </a:p>
        </p:txBody>
      </p:sp>
      <p:sp>
        <p:nvSpPr>
          <p:cNvPr id="12" name="TextBox 11"/>
          <p:cNvSpPr txBox="1"/>
          <p:nvPr/>
        </p:nvSpPr>
        <p:spPr>
          <a:xfrm>
            <a:off x="1828800" y="4572000"/>
            <a:ext cx="8503920" cy="411480"/>
          </a:xfrm>
          <a:prstGeom prst="rect">
            <a:avLst/>
          </a:prstGeom>
          <a:noFill/>
        </p:spPr>
        <p:txBody>
          <a:bodyPr wrap="square">
            <a:spAutoFit/>
          </a:bodyPr>
          <a:lstStyle/>
          <a:p>
            <a:pPr algn="ctr">
              <a:defRPr sz="2000" b="1" i="0">
                <a:solidFill>
                  <a:srgbClr val="0F284B"/>
                </a:solidFill>
                <a:latin typeface="Segoe UI Semibold"/>
              </a:defRPr>
            </a:pPr>
            <a:r>
              <a:t>Team Members</a:t>
            </a:r>
          </a:p>
        </p:txBody>
      </p:sp>
      <p:sp>
        <p:nvSpPr>
          <p:cNvPr id="13" name="TextBox 12"/>
          <p:cNvSpPr txBox="1"/>
          <p:nvPr/>
        </p:nvSpPr>
        <p:spPr>
          <a:xfrm>
            <a:off x="914400" y="5074920"/>
            <a:ext cx="10332720" cy="640080"/>
          </a:xfrm>
          <a:prstGeom prst="rect">
            <a:avLst/>
          </a:prstGeom>
          <a:noFill/>
        </p:spPr>
        <p:txBody>
          <a:bodyPr wrap="square">
            <a:spAutoFit/>
          </a:bodyPr>
          <a:lstStyle/>
          <a:p>
            <a:pPr algn="ctr">
              <a:defRPr sz="1900" b="0" i="0">
                <a:solidFill>
                  <a:srgbClr val="46505F"/>
                </a:solidFill>
                <a:latin typeface="Segoe UI"/>
              </a:defRPr>
            </a:pPr>
            <a:r>
              <a:t>Moharnab Gogoi   ·   Aryyaman Bora   ·   Mayuree Khanikar   ·   Indrani Gogoi</a:t>
            </a:r>
          </a:p>
        </p:txBody>
      </p:sp>
      <p:sp>
        <p:nvSpPr>
          <p:cNvPr id="14" name="TextBox 13"/>
          <p:cNvSpPr txBox="1"/>
          <p:nvPr/>
        </p:nvSpPr>
        <p:spPr>
          <a:xfrm>
            <a:off x="1828800" y="5852160"/>
            <a:ext cx="8503920" cy="411480"/>
          </a:xfrm>
          <a:prstGeom prst="rect">
            <a:avLst/>
          </a:prstGeom>
          <a:noFill/>
        </p:spPr>
        <p:txBody>
          <a:bodyPr wrap="square">
            <a:spAutoFit/>
          </a:bodyPr>
          <a:lstStyle/>
          <a:p>
            <a:pPr algn="ctr">
              <a:defRPr sz="1400" b="0" i="1">
                <a:solidFill>
                  <a:srgbClr val="788291"/>
                </a:solidFill>
                <a:latin typeface="Segoe UI Light"/>
              </a:defRPr>
            </a:pPr>
            <a:r>
              <a:t>ESP32  •  DHT11  •  OLED  •  Wi-Fi  •  Firebase  •  ThingSpeak</a:t>
            </a:r>
          </a:p>
        </p:txBody>
      </p:sp>
      <p:sp>
        <p:nvSpPr>
          <p:cNvPr id="15" name="Rectangle 14"/>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17" name="TextBox 16"/>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Table of Contents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2</a:t>
            </a:r>
          </a:p>
        </p:txBody>
      </p:sp>
      <p:sp>
        <p:nvSpPr>
          <p:cNvPr id="9" name="Rounded Rectangle 8"/>
          <p:cNvSpPr/>
          <p:nvPr/>
        </p:nvSpPr>
        <p:spPr>
          <a:xfrm>
            <a:off x="1645920" y="1234440"/>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664208" y="1261872"/>
            <a:ext cx="512064" cy="329184"/>
          </a:xfrm>
          <a:prstGeom prst="rect">
            <a:avLst/>
          </a:prstGeom>
          <a:noFill/>
        </p:spPr>
        <p:txBody>
          <a:bodyPr wrap="square">
            <a:spAutoFit/>
          </a:bodyPr>
          <a:lstStyle/>
          <a:p>
            <a:pPr algn="ctr">
              <a:defRPr sz="1500" b="1" i="0">
                <a:solidFill>
                  <a:srgbClr val="FFFFFF"/>
                </a:solidFill>
                <a:latin typeface="Segoe UI Semibold"/>
              </a:defRPr>
            </a:pPr>
            <a:r>
              <a:t>01</a:t>
            </a:r>
          </a:p>
        </p:txBody>
      </p:sp>
      <p:sp>
        <p:nvSpPr>
          <p:cNvPr id="11" name="TextBox 10"/>
          <p:cNvSpPr txBox="1"/>
          <p:nvPr/>
        </p:nvSpPr>
        <p:spPr>
          <a:xfrm>
            <a:off x="2423160" y="1261872"/>
            <a:ext cx="8229600" cy="329184"/>
          </a:xfrm>
          <a:prstGeom prst="rect">
            <a:avLst/>
          </a:prstGeom>
          <a:noFill/>
        </p:spPr>
        <p:txBody>
          <a:bodyPr wrap="square">
            <a:spAutoFit/>
          </a:bodyPr>
          <a:lstStyle/>
          <a:p>
            <a:pPr algn="l">
              <a:defRPr sz="1700" b="0" i="0">
                <a:solidFill>
                  <a:srgbClr val="232832"/>
                </a:solidFill>
                <a:latin typeface="Segoe UI"/>
              </a:defRPr>
            </a:pPr>
            <a:r>
              <a:t>About TIH IIT Guwahati</a:t>
            </a:r>
          </a:p>
        </p:txBody>
      </p:sp>
      <p:sp>
        <p:nvSpPr>
          <p:cNvPr id="12" name="Rectangle 11"/>
          <p:cNvSpPr/>
          <p:nvPr/>
        </p:nvSpPr>
        <p:spPr>
          <a:xfrm>
            <a:off x="2423160" y="1655064"/>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1645920" y="1709928"/>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64208" y="1737360"/>
            <a:ext cx="512064" cy="329184"/>
          </a:xfrm>
          <a:prstGeom prst="rect">
            <a:avLst/>
          </a:prstGeom>
          <a:noFill/>
        </p:spPr>
        <p:txBody>
          <a:bodyPr wrap="square">
            <a:spAutoFit/>
          </a:bodyPr>
          <a:lstStyle/>
          <a:p>
            <a:pPr algn="ctr">
              <a:defRPr sz="1500" b="1" i="0">
                <a:solidFill>
                  <a:srgbClr val="FFFFFF"/>
                </a:solidFill>
                <a:latin typeface="Segoe UI Semibold"/>
              </a:defRPr>
            </a:pPr>
            <a:r>
              <a:t>02</a:t>
            </a:r>
          </a:p>
        </p:txBody>
      </p:sp>
      <p:sp>
        <p:nvSpPr>
          <p:cNvPr id="15" name="TextBox 14"/>
          <p:cNvSpPr txBox="1"/>
          <p:nvPr/>
        </p:nvSpPr>
        <p:spPr>
          <a:xfrm>
            <a:off x="2423160" y="1737360"/>
            <a:ext cx="8229600" cy="329184"/>
          </a:xfrm>
          <a:prstGeom prst="rect">
            <a:avLst/>
          </a:prstGeom>
          <a:noFill/>
        </p:spPr>
        <p:txBody>
          <a:bodyPr wrap="square">
            <a:spAutoFit/>
          </a:bodyPr>
          <a:lstStyle/>
          <a:p>
            <a:pPr algn="l">
              <a:defRPr sz="1700" b="0" i="0">
                <a:solidFill>
                  <a:srgbClr val="232832"/>
                </a:solidFill>
                <a:latin typeface="Segoe UI"/>
              </a:defRPr>
            </a:pPr>
            <a:r>
              <a:t>Team Members</a:t>
            </a:r>
          </a:p>
        </p:txBody>
      </p:sp>
      <p:sp>
        <p:nvSpPr>
          <p:cNvPr id="16" name="Rectangle 15"/>
          <p:cNvSpPr/>
          <p:nvPr/>
        </p:nvSpPr>
        <p:spPr>
          <a:xfrm>
            <a:off x="2423160" y="2130552"/>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1645920" y="2185416"/>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64208" y="2212848"/>
            <a:ext cx="512064" cy="329184"/>
          </a:xfrm>
          <a:prstGeom prst="rect">
            <a:avLst/>
          </a:prstGeom>
          <a:noFill/>
        </p:spPr>
        <p:txBody>
          <a:bodyPr wrap="square">
            <a:spAutoFit/>
          </a:bodyPr>
          <a:lstStyle/>
          <a:p>
            <a:pPr algn="ctr">
              <a:defRPr sz="1500" b="1" i="0">
                <a:solidFill>
                  <a:srgbClr val="FFFFFF"/>
                </a:solidFill>
                <a:latin typeface="Segoe UI Semibold"/>
              </a:defRPr>
            </a:pPr>
            <a:r>
              <a:t>03</a:t>
            </a:r>
          </a:p>
        </p:txBody>
      </p:sp>
      <p:sp>
        <p:nvSpPr>
          <p:cNvPr id="19" name="TextBox 18"/>
          <p:cNvSpPr txBox="1"/>
          <p:nvPr/>
        </p:nvSpPr>
        <p:spPr>
          <a:xfrm>
            <a:off x="2423160" y="2212848"/>
            <a:ext cx="8229600" cy="329184"/>
          </a:xfrm>
          <a:prstGeom prst="rect">
            <a:avLst/>
          </a:prstGeom>
          <a:noFill/>
        </p:spPr>
        <p:txBody>
          <a:bodyPr wrap="square">
            <a:spAutoFit/>
          </a:bodyPr>
          <a:lstStyle/>
          <a:p>
            <a:pPr algn="l">
              <a:defRPr sz="1700" b="0" i="0">
                <a:solidFill>
                  <a:srgbClr val="232832"/>
                </a:solidFill>
                <a:latin typeface="Segoe UI"/>
              </a:defRPr>
            </a:pPr>
            <a:r>
              <a:t>Experiment 1 — Push Button &amp; IR Sensor with ESP32</a:t>
            </a:r>
          </a:p>
        </p:txBody>
      </p:sp>
      <p:sp>
        <p:nvSpPr>
          <p:cNvPr id="20" name="Rectangle 19"/>
          <p:cNvSpPr/>
          <p:nvPr/>
        </p:nvSpPr>
        <p:spPr>
          <a:xfrm>
            <a:off x="2423160" y="2606040"/>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1645920" y="2660904"/>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664208" y="2688336"/>
            <a:ext cx="512064" cy="329184"/>
          </a:xfrm>
          <a:prstGeom prst="rect">
            <a:avLst/>
          </a:prstGeom>
          <a:noFill/>
        </p:spPr>
        <p:txBody>
          <a:bodyPr wrap="square">
            <a:spAutoFit/>
          </a:bodyPr>
          <a:lstStyle/>
          <a:p>
            <a:pPr algn="ctr">
              <a:defRPr sz="1500" b="1" i="0">
                <a:solidFill>
                  <a:srgbClr val="FFFFFF"/>
                </a:solidFill>
                <a:latin typeface="Segoe UI Semibold"/>
              </a:defRPr>
            </a:pPr>
            <a:r>
              <a:t>04</a:t>
            </a:r>
          </a:p>
        </p:txBody>
      </p:sp>
      <p:sp>
        <p:nvSpPr>
          <p:cNvPr id="23" name="TextBox 22"/>
          <p:cNvSpPr txBox="1"/>
          <p:nvPr/>
        </p:nvSpPr>
        <p:spPr>
          <a:xfrm>
            <a:off x="2423160" y="2688336"/>
            <a:ext cx="8229600" cy="329184"/>
          </a:xfrm>
          <a:prstGeom prst="rect">
            <a:avLst/>
          </a:prstGeom>
          <a:noFill/>
        </p:spPr>
        <p:txBody>
          <a:bodyPr wrap="square">
            <a:spAutoFit/>
          </a:bodyPr>
          <a:lstStyle/>
          <a:p>
            <a:pPr algn="l">
              <a:defRPr sz="1700" b="0" i="0">
                <a:solidFill>
                  <a:srgbClr val="232832"/>
                </a:solidFill>
                <a:latin typeface="Segoe UI"/>
              </a:defRPr>
            </a:pPr>
            <a:r>
              <a:t>Experiment 2 — Interfacing DHT11 Temperature Sensor</a:t>
            </a:r>
          </a:p>
        </p:txBody>
      </p:sp>
      <p:sp>
        <p:nvSpPr>
          <p:cNvPr id="24" name="Rectangle 23"/>
          <p:cNvSpPr/>
          <p:nvPr/>
        </p:nvSpPr>
        <p:spPr>
          <a:xfrm>
            <a:off x="2423160" y="3081528"/>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1645920" y="3136392"/>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664208" y="3163824"/>
            <a:ext cx="512064" cy="329184"/>
          </a:xfrm>
          <a:prstGeom prst="rect">
            <a:avLst/>
          </a:prstGeom>
          <a:noFill/>
        </p:spPr>
        <p:txBody>
          <a:bodyPr wrap="square">
            <a:spAutoFit/>
          </a:bodyPr>
          <a:lstStyle/>
          <a:p>
            <a:pPr algn="ctr">
              <a:defRPr sz="1500" b="1" i="0">
                <a:solidFill>
                  <a:srgbClr val="FFFFFF"/>
                </a:solidFill>
                <a:latin typeface="Segoe UI Semibold"/>
              </a:defRPr>
            </a:pPr>
            <a:r>
              <a:t>05</a:t>
            </a:r>
          </a:p>
        </p:txBody>
      </p:sp>
      <p:sp>
        <p:nvSpPr>
          <p:cNvPr id="27" name="TextBox 26"/>
          <p:cNvSpPr txBox="1"/>
          <p:nvPr/>
        </p:nvSpPr>
        <p:spPr>
          <a:xfrm>
            <a:off x="2423160" y="3163824"/>
            <a:ext cx="8229600" cy="329184"/>
          </a:xfrm>
          <a:prstGeom prst="rect">
            <a:avLst/>
          </a:prstGeom>
          <a:noFill/>
        </p:spPr>
        <p:txBody>
          <a:bodyPr wrap="square">
            <a:spAutoFit/>
          </a:bodyPr>
          <a:lstStyle/>
          <a:p>
            <a:pPr algn="l">
              <a:defRPr sz="1700" b="0" i="0">
                <a:solidFill>
                  <a:srgbClr val="232832"/>
                </a:solidFill>
                <a:latin typeface="Segoe UI"/>
              </a:defRPr>
            </a:pPr>
            <a:r>
              <a:t>Experiment 3 — DHT11 with OLED Display (I2C)</a:t>
            </a:r>
          </a:p>
        </p:txBody>
      </p:sp>
      <p:sp>
        <p:nvSpPr>
          <p:cNvPr id="28" name="Rectangle 27"/>
          <p:cNvSpPr/>
          <p:nvPr/>
        </p:nvSpPr>
        <p:spPr>
          <a:xfrm>
            <a:off x="2423160" y="3557016"/>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1645920" y="3611880"/>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664208" y="3639312"/>
            <a:ext cx="512064" cy="329184"/>
          </a:xfrm>
          <a:prstGeom prst="rect">
            <a:avLst/>
          </a:prstGeom>
          <a:noFill/>
        </p:spPr>
        <p:txBody>
          <a:bodyPr wrap="square">
            <a:spAutoFit/>
          </a:bodyPr>
          <a:lstStyle/>
          <a:p>
            <a:pPr algn="ctr">
              <a:defRPr sz="1500" b="1" i="0">
                <a:solidFill>
                  <a:srgbClr val="FFFFFF"/>
                </a:solidFill>
                <a:latin typeface="Segoe UI Semibold"/>
              </a:defRPr>
            </a:pPr>
            <a:r>
              <a:t>06</a:t>
            </a:r>
          </a:p>
        </p:txBody>
      </p:sp>
      <p:sp>
        <p:nvSpPr>
          <p:cNvPr id="31" name="TextBox 30"/>
          <p:cNvSpPr txBox="1"/>
          <p:nvPr/>
        </p:nvSpPr>
        <p:spPr>
          <a:xfrm>
            <a:off x="2423160" y="3639312"/>
            <a:ext cx="8229600" cy="329184"/>
          </a:xfrm>
          <a:prstGeom prst="rect">
            <a:avLst/>
          </a:prstGeom>
          <a:noFill/>
        </p:spPr>
        <p:txBody>
          <a:bodyPr wrap="square">
            <a:spAutoFit/>
          </a:bodyPr>
          <a:lstStyle/>
          <a:p>
            <a:pPr algn="l">
              <a:defRPr sz="1700" b="0" i="0">
                <a:solidFill>
                  <a:srgbClr val="232832"/>
                </a:solidFill>
                <a:latin typeface="Segoe UI"/>
              </a:defRPr>
            </a:pPr>
            <a:r>
              <a:t>Experiment 4 — ESP32 Wi-Fi Network Scanner</a:t>
            </a:r>
          </a:p>
        </p:txBody>
      </p:sp>
      <p:sp>
        <p:nvSpPr>
          <p:cNvPr id="32" name="Rectangle 31"/>
          <p:cNvSpPr/>
          <p:nvPr/>
        </p:nvSpPr>
        <p:spPr>
          <a:xfrm>
            <a:off x="2423160" y="4032504"/>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645920" y="4087368"/>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664208" y="4114800"/>
            <a:ext cx="512064" cy="329184"/>
          </a:xfrm>
          <a:prstGeom prst="rect">
            <a:avLst/>
          </a:prstGeom>
          <a:noFill/>
        </p:spPr>
        <p:txBody>
          <a:bodyPr wrap="square">
            <a:spAutoFit/>
          </a:bodyPr>
          <a:lstStyle/>
          <a:p>
            <a:pPr algn="ctr">
              <a:defRPr sz="1500" b="1" i="0">
                <a:solidFill>
                  <a:srgbClr val="FFFFFF"/>
                </a:solidFill>
                <a:latin typeface="Segoe UI Semibold"/>
              </a:defRPr>
            </a:pPr>
            <a:r>
              <a:t>07</a:t>
            </a:r>
          </a:p>
        </p:txBody>
      </p:sp>
      <p:sp>
        <p:nvSpPr>
          <p:cNvPr id="35" name="TextBox 34"/>
          <p:cNvSpPr txBox="1"/>
          <p:nvPr/>
        </p:nvSpPr>
        <p:spPr>
          <a:xfrm>
            <a:off x="2423160" y="4114800"/>
            <a:ext cx="8229600" cy="329184"/>
          </a:xfrm>
          <a:prstGeom prst="rect">
            <a:avLst/>
          </a:prstGeom>
          <a:noFill/>
        </p:spPr>
        <p:txBody>
          <a:bodyPr wrap="square">
            <a:spAutoFit/>
          </a:bodyPr>
          <a:lstStyle/>
          <a:p>
            <a:pPr algn="l">
              <a:defRPr sz="1700" b="0" i="0">
                <a:solidFill>
                  <a:srgbClr val="232832"/>
                </a:solidFill>
                <a:latin typeface="Segoe UI"/>
              </a:defRPr>
            </a:pPr>
            <a:r>
              <a:t>Experiment 5 — Cloud Data Logging with Firebase</a:t>
            </a:r>
          </a:p>
        </p:txBody>
      </p:sp>
      <p:sp>
        <p:nvSpPr>
          <p:cNvPr id="36" name="Rectangle 35"/>
          <p:cNvSpPr/>
          <p:nvPr/>
        </p:nvSpPr>
        <p:spPr>
          <a:xfrm>
            <a:off x="2423160" y="4507992"/>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ounded Rectangle 36"/>
          <p:cNvSpPr/>
          <p:nvPr/>
        </p:nvSpPr>
        <p:spPr>
          <a:xfrm>
            <a:off x="1645920" y="4562856"/>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664208" y="4590288"/>
            <a:ext cx="512064" cy="329184"/>
          </a:xfrm>
          <a:prstGeom prst="rect">
            <a:avLst/>
          </a:prstGeom>
          <a:noFill/>
        </p:spPr>
        <p:txBody>
          <a:bodyPr wrap="square">
            <a:spAutoFit/>
          </a:bodyPr>
          <a:lstStyle/>
          <a:p>
            <a:pPr algn="ctr">
              <a:defRPr sz="1500" b="1" i="0">
                <a:solidFill>
                  <a:srgbClr val="FFFFFF"/>
                </a:solidFill>
                <a:latin typeface="Segoe UI Semibold"/>
              </a:defRPr>
            </a:pPr>
            <a:r>
              <a:t>08</a:t>
            </a:r>
          </a:p>
        </p:txBody>
      </p:sp>
      <p:sp>
        <p:nvSpPr>
          <p:cNvPr id="39" name="TextBox 38"/>
          <p:cNvSpPr txBox="1"/>
          <p:nvPr/>
        </p:nvSpPr>
        <p:spPr>
          <a:xfrm>
            <a:off x="2423160" y="4590288"/>
            <a:ext cx="8229600" cy="329184"/>
          </a:xfrm>
          <a:prstGeom prst="rect">
            <a:avLst/>
          </a:prstGeom>
          <a:noFill/>
        </p:spPr>
        <p:txBody>
          <a:bodyPr wrap="square">
            <a:spAutoFit/>
          </a:bodyPr>
          <a:lstStyle/>
          <a:p>
            <a:pPr algn="l">
              <a:defRPr sz="1700" b="0" i="0">
                <a:solidFill>
                  <a:srgbClr val="232832"/>
                </a:solidFill>
                <a:latin typeface="Segoe UI"/>
              </a:defRPr>
            </a:pPr>
            <a:r>
              <a:t>Experiment 6 — Cloud Data Logging with ThingSpeak</a:t>
            </a:r>
          </a:p>
        </p:txBody>
      </p:sp>
      <p:sp>
        <p:nvSpPr>
          <p:cNvPr id="40" name="Rectangle 39"/>
          <p:cNvSpPr/>
          <p:nvPr/>
        </p:nvSpPr>
        <p:spPr>
          <a:xfrm>
            <a:off x="2423160" y="4983480"/>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1645920" y="5038344"/>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1664208" y="5065776"/>
            <a:ext cx="512064" cy="329184"/>
          </a:xfrm>
          <a:prstGeom prst="rect">
            <a:avLst/>
          </a:prstGeom>
          <a:noFill/>
        </p:spPr>
        <p:txBody>
          <a:bodyPr wrap="square">
            <a:spAutoFit/>
          </a:bodyPr>
          <a:lstStyle/>
          <a:p>
            <a:pPr algn="ctr">
              <a:defRPr sz="1500" b="1" i="0">
                <a:solidFill>
                  <a:srgbClr val="FFFFFF"/>
                </a:solidFill>
                <a:latin typeface="Segoe UI Semibold"/>
              </a:defRPr>
            </a:pPr>
            <a:r>
              <a:t>09</a:t>
            </a:r>
          </a:p>
        </p:txBody>
      </p:sp>
      <p:sp>
        <p:nvSpPr>
          <p:cNvPr id="43" name="TextBox 42"/>
          <p:cNvSpPr txBox="1"/>
          <p:nvPr/>
        </p:nvSpPr>
        <p:spPr>
          <a:xfrm>
            <a:off x="2423160" y="5065776"/>
            <a:ext cx="8229600" cy="329184"/>
          </a:xfrm>
          <a:prstGeom prst="rect">
            <a:avLst/>
          </a:prstGeom>
          <a:noFill/>
        </p:spPr>
        <p:txBody>
          <a:bodyPr wrap="square">
            <a:spAutoFit/>
          </a:bodyPr>
          <a:lstStyle/>
          <a:p>
            <a:pPr algn="l">
              <a:defRPr sz="1700" b="0" i="0">
                <a:solidFill>
                  <a:srgbClr val="232832"/>
                </a:solidFill>
                <a:latin typeface="Segoe UI"/>
              </a:defRPr>
            </a:pPr>
            <a:r>
              <a:t>Key Learnings &amp; Skills Developed</a:t>
            </a:r>
          </a:p>
        </p:txBody>
      </p:sp>
      <p:sp>
        <p:nvSpPr>
          <p:cNvPr id="44" name="Rectangle 43"/>
          <p:cNvSpPr/>
          <p:nvPr/>
        </p:nvSpPr>
        <p:spPr>
          <a:xfrm>
            <a:off x="2423160" y="5458968"/>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1645920" y="5513832"/>
            <a:ext cx="548640" cy="384048"/>
          </a:xfrm>
          <a:prstGeom prst="round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664208" y="5541264"/>
            <a:ext cx="512064" cy="329184"/>
          </a:xfrm>
          <a:prstGeom prst="rect">
            <a:avLst/>
          </a:prstGeom>
          <a:noFill/>
        </p:spPr>
        <p:txBody>
          <a:bodyPr wrap="square">
            <a:spAutoFit/>
          </a:bodyPr>
          <a:lstStyle/>
          <a:p>
            <a:pPr algn="ctr">
              <a:defRPr sz="1500" b="1" i="0">
                <a:solidFill>
                  <a:srgbClr val="FFFFFF"/>
                </a:solidFill>
                <a:latin typeface="Segoe UI Semibold"/>
              </a:defRPr>
            </a:pPr>
            <a:r>
              <a:t>10</a:t>
            </a:r>
          </a:p>
        </p:txBody>
      </p:sp>
      <p:sp>
        <p:nvSpPr>
          <p:cNvPr id="47" name="TextBox 46"/>
          <p:cNvSpPr txBox="1"/>
          <p:nvPr/>
        </p:nvSpPr>
        <p:spPr>
          <a:xfrm>
            <a:off x="2423160" y="5541264"/>
            <a:ext cx="8229600" cy="329184"/>
          </a:xfrm>
          <a:prstGeom prst="rect">
            <a:avLst/>
          </a:prstGeom>
          <a:noFill/>
        </p:spPr>
        <p:txBody>
          <a:bodyPr wrap="square">
            <a:spAutoFit/>
          </a:bodyPr>
          <a:lstStyle/>
          <a:p>
            <a:pPr algn="l">
              <a:defRPr sz="1700" b="0" i="0">
                <a:solidFill>
                  <a:srgbClr val="232832"/>
                </a:solidFill>
                <a:latin typeface="Segoe UI"/>
              </a:defRPr>
            </a:pPr>
            <a:r>
              <a:t>Conclusion &amp; Thank You</a:t>
            </a:r>
          </a:p>
        </p:txBody>
      </p:sp>
      <p:sp>
        <p:nvSpPr>
          <p:cNvPr id="48" name="Rectangle 47"/>
          <p:cNvSpPr/>
          <p:nvPr/>
        </p:nvSpPr>
        <p:spPr>
          <a:xfrm>
            <a:off x="2423160" y="5934456"/>
            <a:ext cx="7772400" cy="13716"/>
          </a:xfrm>
          <a:prstGeom prst="rect">
            <a:avLst/>
          </a:prstGeom>
          <a:solidFill>
            <a:srgbClr val="C8D2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About TIH — IIT Guwahati</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3</a:t>
            </a:r>
          </a:p>
        </p:txBody>
      </p:sp>
      <p:sp>
        <p:nvSpPr>
          <p:cNvPr id="9" name="TextBox 8"/>
          <p:cNvSpPr txBox="1"/>
          <p:nvPr/>
        </p:nvSpPr>
        <p:spPr>
          <a:xfrm>
            <a:off x="457200" y="1097280"/>
            <a:ext cx="6217920" cy="3474720"/>
          </a:xfrm>
          <a:prstGeom prst="rect">
            <a:avLst/>
          </a:prstGeom>
          <a:noFill/>
        </p:spPr>
        <p:txBody>
          <a:bodyPr wrap="square">
            <a:spAutoFit/>
          </a:bodyPr>
          <a:lstStyle/>
          <a:p>
            <a:pPr>
              <a:lnSpc>
                <a:spcPts val="2100"/>
              </a:lnSpc>
              <a:spcAft>
                <a:spcPts val="1200"/>
              </a:spcAft>
            </a:pPr>
            <a:r>
              <a:rPr sz="1500" b="1" dirty="0">
                <a:solidFill>
                  <a:srgbClr val="0F284B"/>
                </a:solidFill>
                <a:latin typeface="Segoe UI Semibold"/>
              </a:rPr>
              <a:t>▸  Introduction: </a:t>
            </a:r>
            <a:r>
              <a:rPr sz="1500" dirty="0">
                <a:solidFill>
                  <a:srgbClr val="232832"/>
                </a:solidFill>
                <a:latin typeface="Segoe UI"/>
              </a:rPr>
              <a:t>Technology Innovation Hub (TIH) at IIT Guwahati is a premier initiative under the National Mission on Interdisciplinary Cyber-Physical Systems (NM-ICPS), DST, Government of India, fostering cutting-edge innovation and entrepreneurship.</a:t>
            </a:r>
          </a:p>
          <a:p>
            <a:pPr>
              <a:lnSpc>
                <a:spcPts val="2100"/>
              </a:lnSpc>
              <a:spcAft>
                <a:spcPts val="1200"/>
              </a:spcAft>
            </a:pPr>
            <a:r>
              <a:rPr sz="1500" b="1" dirty="0">
                <a:solidFill>
                  <a:srgbClr val="0F284B"/>
                </a:solidFill>
                <a:latin typeface="Segoe UI Semibold"/>
              </a:rPr>
              <a:t>▸  Vision: </a:t>
            </a:r>
            <a:r>
              <a:rPr sz="1500" dirty="0">
                <a:solidFill>
                  <a:srgbClr val="232832"/>
                </a:solidFill>
                <a:latin typeface="Segoe UI"/>
              </a:rPr>
              <a:t>To emerge as a global </a:t>
            </a:r>
            <a:r>
              <a:rPr sz="1500" dirty="0" err="1">
                <a:solidFill>
                  <a:srgbClr val="232832"/>
                </a:solidFill>
                <a:latin typeface="Segoe UI"/>
              </a:rPr>
              <a:t>centre</a:t>
            </a:r>
            <a:r>
              <a:rPr sz="1500" dirty="0">
                <a:solidFill>
                  <a:srgbClr val="232832"/>
                </a:solidFill>
                <a:latin typeface="Segoe UI"/>
              </a:rPr>
              <a:t> of excellence in research, technology development and innovation in IoT and Cyber-Physical Systems.</a:t>
            </a:r>
          </a:p>
          <a:p>
            <a:pPr>
              <a:lnSpc>
                <a:spcPts val="2100"/>
              </a:lnSpc>
              <a:spcAft>
                <a:spcPts val="1200"/>
              </a:spcAft>
            </a:pPr>
            <a:r>
              <a:rPr sz="1500" b="1" dirty="0">
                <a:solidFill>
                  <a:srgbClr val="0F284B"/>
                </a:solidFill>
                <a:latin typeface="Segoe UI Semibold"/>
              </a:rPr>
              <a:t>▸  Mission: </a:t>
            </a:r>
            <a:r>
              <a:rPr sz="1500" dirty="0">
                <a:solidFill>
                  <a:srgbClr val="232832"/>
                </a:solidFill>
                <a:latin typeface="Segoe UI"/>
              </a:rPr>
              <a:t>Bridge academia, industry and society by nurturing deep-tech startups, enabling translational research, and developing skilled human resources in emerging technologies.</a:t>
            </a:r>
          </a:p>
        </p:txBody>
      </p:sp>
      <p:sp>
        <p:nvSpPr>
          <p:cNvPr id="10" name="Rounded Rectangle 9"/>
          <p:cNvSpPr/>
          <p:nvPr/>
        </p:nvSpPr>
        <p:spPr>
          <a:xfrm>
            <a:off x="6949440" y="1234440"/>
            <a:ext cx="2331720" cy="822960"/>
          </a:xfrm>
          <a:prstGeom prst="roundRect">
            <a:avLst/>
          </a:prstGeom>
          <a:solidFill>
            <a:srgbClr val="00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040880" y="1371600"/>
            <a:ext cx="2148840" cy="548640"/>
          </a:xfrm>
          <a:prstGeom prst="rect">
            <a:avLst/>
          </a:prstGeom>
          <a:noFill/>
        </p:spPr>
        <p:txBody>
          <a:bodyPr wrap="square">
            <a:spAutoFit/>
          </a:bodyPr>
          <a:lstStyle/>
          <a:p>
            <a:pPr algn="ctr">
              <a:defRPr sz="1400" b="1" i="0">
                <a:solidFill>
                  <a:srgbClr val="FFFFFF"/>
                </a:solidFill>
                <a:latin typeface="Segoe UI Semibold"/>
              </a:defRPr>
            </a:pPr>
            <a:r>
              <a:t>Internet of Things</a:t>
            </a:r>
          </a:p>
        </p:txBody>
      </p:sp>
      <p:sp>
        <p:nvSpPr>
          <p:cNvPr id="12" name="Rounded Rectangle 11"/>
          <p:cNvSpPr/>
          <p:nvPr/>
        </p:nvSpPr>
        <p:spPr>
          <a:xfrm>
            <a:off x="9509760" y="1234440"/>
            <a:ext cx="2331720" cy="822960"/>
          </a:xfrm>
          <a:prstGeom prst="roundRect">
            <a:avLst/>
          </a:prstGeom>
          <a:solidFill>
            <a:srgbClr val="5A37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0" y="1371600"/>
            <a:ext cx="2148840" cy="548640"/>
          </a:xfrm>
          <a:prstGeom prst="rect">
            <a:avLst/>
          </a:prstGeom>
          <a:noFill/>
        </p:spPr>
        <p:txBody>
          <a:bodyPr wrap="square">
            <a:spAutoFit/>
          </a:bodyPr>
          <a:lstStyle/>
          <a:p>
            <a:pPr algn="ctr">
              <a:defRPr sz="1400" b="1" i="0">
                <a:solidFill>
                  <a:srgbClr val="FFFFFF"/>
                </a:solidFill>
                <a:latin typeface="Segoe UI Semibold"/>
              </a:defRPr>
            </a:pPr>
            <a:r>
              <a:t>Artificial Intelligence</a:t>
            </a:r>
          </a:p>
        </p:txBody>
      </p:sp>
      <p:sp>
        <p:nvSpPr>
          <p:cNvPr id="14" name="Rounded Rectangle 13"/>
          <p:cNvSpPr/>
          <p:nvPr/>
        </p:nvSpPr>
        <p:spPr>
          <a:xfrm>
            <a:off x="6949440" y="2286000"/>
            <a:ext cx="2331720" cy="822960"/>
          </a:xfrm>
          <a:prstGeom prst="roundRect">
            <a:avLst/>
          </a:prstGeom>
          <a:solidFill>
            <a:srgbClr val="C346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040880" y="2423160"/>
            <a:ext cx="2148840" cy="548640"/>
          </a:xfrm>
          <a:prstGeom prst="rect">
            <a:avLst/>
          </a:prstGeom>
          <a:noFill/>
        </p:spPr>
        <p:txBody>
          <a:bodyPr wrap="square">
            <a:spAutoFit/>
          </a:bodyPr>
          <a:lstStyle/>
          <a:p>
            <a:pPr algn="ctr">
              <a:defRPr sz="1400" b="1" i="0">
                <a:solidFill>
                  <a:srgbClr val="FFFFFF"/>
                </a:solidFill>
                <a:latin typeface="Segoe UI Semibold"/>
              </a:defRPr>
            </a:pPr>
            <a:r>
              <a:t>Robotics &amp; Automation</a:t>
            </a:r>
          </a:p>
        </p:txBody>
      </p:sp>
      <p:sp>
        <p:nvSpPr>
          <p:cNvPr id="16" name="Rounded Rectangle 15"/>
          <p:cNvSpPr/>
          <p:nvPr/>
        </p:nvSpPr>
        <p:spPr>
          <a:xfrm>
            <a:off x="9509760" y="2286000"/>
            <a:ext cx="2331720" cy="822960"/>
          </a:xfrm>
          <a:prstGeom prst="roundRect">
            <a:avLst/>
          </a:prstGeom>
          <a:solidFill>
            <a:srgbClr val="28A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0" y="2423160"/>
            <a:ext cx="2148840" cy="548640"/>
          </a:xfrm>
          <a:prstGeom prst="rect">
            <a:avLst/>
          </a:prstGeom>
          <a:noFill/>
        </p:spPr>
        <p:txBody>
          <a:bodyPr wrap="square">
            <a:spAutoFit/>
          </a:bodyPr>
          <a:lstStyle/>
          <a:p>
            <a:pPr algn="ctr">
              <a:defRPr sz="1400" b="1" i="0">
                <a:solidFill>
                  <a:srgbClr val="FFFFFF"/>
                </a:solidFill>
                <a:latin typeface="Segoe UI Semibold"/>
              </a:defRPr>
            </a:pPr>
            <a:r>
              <a:t>Industry Collaboration</a:t>
            </a:r>
          </a:p>
        </p:txBody>
      </p:sp>
      <p:sp>
        <p:nvSpPr>
          <p:cNvPr id="18" name="Rounded Rectangle 17"/>
          <p:cNvSpPr/>
          <p:nvPr/>
        </p:nvSpPr>
        <p:spPr>
          <a:xfrm>
            <a:off x="6949440" y="3337560"/>
            <a:ext cx="2331720" cy="822960"/>
          </a:xfrm>
          <a:prstGeom prst="roundRect">
            <a:avLst/>
          </a:prstGeom>
          <a:solidFill>
            <a:srgbClr val="E69B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040880" y="3474720"/>
            <a:ext cx="2148840" cy="548640"/>
          </a:xfrm>
          <a:prstGeom prst="rect">
            <a:avLst/>
          </a:prstGeom>
          <a:noFill/>
        </p:spPr>
        <p:txBody>
          <a:bodyPr wrap="square">
            <a:spAutoFit/>
          </a:bodyPr>
          <a:lstStyle/>
          <a:p>
            <a:pPr algn="ctr">
              <a:defRPr sz="1400" b="1" i="0">
                <a:solidFill>
                  <a:srgbClr val="FFFFFF"/>
                </a:solidFill>
                <a:latin typeface="Segoe UI Semibold"/>
              </a:defRPr>
            </a:pPr>
            <a:r>
              <a:t>Start-up Incubation</a:t>
            </a:r>
          </a:p>
        </p:txBody>
      </p:sp>
      <p:sp>
        <p:nvSpPr>
          <p:cNvPr id="20" name="Rounded Rectangle 19"/>
          <p:cNvSpPr/>
          <p:nvPr/>
        </p:nvSpPr>
        <p:spPr>
          <a:xfrm>
            <a:off x="9509760" y="3337560"/>
            <a:ext cx="2331720" cy="822960"/>
          </a:xfrm>
          <a:prstGeom prst="roundRect">
            <a:avLst/>
          </a:prstGeom>
          <a:solidFill>
            <a:srgbClr val="375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601200" y="3474720"/>
            <a:ext cx="2148840" cy="548640"/>
          </a:xfrm>
          <a:prstGeom prst="rect">
            <a:avLst/>
          </a:prstGeom>
          <a:noFill/>
        </p:spPr>
        <p:txBody>
          <a:bodyPr wrap="square">
            <a:spAutoFit/>
          </a:bodyPr>
          <a:lstStyle/>
          <a:p>
            <a:pPr algn="ctr">
              <a:defRPr sz="1400" b="1" i="0">
                <a:solidFill>
                  <a:srgbClr val="FFFFFF"/>
                </a:solidFill>
                <a:latin typeface="Segoe UI Semibold"/>
              </a:defRPr>
            </a:pPr>
            <a:r>
              <a:t>Smart Manufacturing</a:t>
            </a:r>
          </a:p>
        </p:txBody>
      </p:sp>
      <p:sp>
        <p:nvSpPr>
          <p:cNvPr id="22" name="TextBox 21"/>
          <p:cNvSpPr txBox="1"/>
          <p:nvPr/>
        </p:nvSpPr>
        <p:spPr>
          <a:xfrm>
            <a:off x="457200" y="5258390"/>
            <a:ext cx="11247120" cy="914400"/>
          </a:xfrm>
          <a:prstGeom prst="rect">
            <a:avLst/>
          </a:prstGeom>
          <a:noFill/>
        </p:spPr>
        <p:txBody>
          <a:bodyPr wrap="square">
            <a:spAutoFit/>
          </a:bodyPr>
          <a:lstStyle/>
          <a:p>
            <a:pPr algn="l">
              <a:defRPr sz="1300" b="0" i="1">
                <a:solidFill>
                  <a:srgbClr val="788291"/>
                </a:solidFill>
                <a:latin typeface="Segoe UI Light"/>
              </a:defRPr>
            </a:pPr>
            <a:r>
              <a:rPr dirty="0"/>
              <a:t>Research Focus Areas:  Intelligent Sensors  ·  Edge Computing  ·  Cloud Platforms  ·  Embedded Systems  ·  Smart Agriculture  ·  Healthcare IoT  ·  Connected Mobility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Team Members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4</a:t>
            </a:r>
          </a:p>
        </p:txBody>
      </p:sp>
      <p:sp>
        <p:nvSpPr>
          <p:cNvPr id="9" name="Rounded Rectangle 8"/>
          <p:cNvSpPr/>
          <p:nvPr/>
        </p:nvSpPr>
        <p:spPr>
          <a:xfrm>
            <a:off x="868680" y="1783080"/>
            <a:ext cx="2468880" cy="3291840"/>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22960" y="1737360"/>
            <a:ext cx="24688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1737360"/>
            <a:ext cx="2468880" cy="640080"/>
          </a:xfrm>
          <a:prstGeom prst="rect">
            <a:avLst/>
          </a:prstGeom>
          <a:solidFill>
            <a:srgbClr val="00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1645920" y="2057400"/>
            <a:ext cx="822960" cy="822960"/>
          </a:xfrm>
          <a:prstGeom prst="ellipse">
            <a:avLst/>
          </a:prstGeom>
          <a:solidFill>
            <a:srgbClr val="FFFFFF"/>
          </a:solidFill>
          <a:ln w="31750">
            <a:solidFill>
              <a:srgbClr val="00829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645920" y="2148840"/>
            <a:ext cx="822960" cy="640080"/>
          </a:xfrm>
          <a:prstGeom prst="rect">
            <a:avLst/>
          </a:prstGeom>
          <a:noFill/>
        </p:spPr>
        <p:txBody>
          <a:bodyPr wrap="square">
            <a:spAutoFit/>
          </a:bodyPr>
          <a:lstStyle/>
          <a:p>
            <a:pPr algn="ctr">
              <a:defRPr sz="2200" b="1" i="0">
                <a:solidFill>
                  <a:srgbClr val="008296"/>
                </a:solidFill>
                <a:latin typeface="Segoe UI Semibold"/>
              </a:defRPr>
            </a:pPr>
            <a:r>
              <a:t>MG</a:t>
            </a:r>
          </a:p>
        </p:txBody>
      </p:sp>
      <p:sp>
        <p:nvSpPr>
          <p:cNvPr id="14" name="TextBox 13"/>
          <p:cNvSpPr txBox="1"/>
          <p:nvPr/>
        </p:nvSpPr>
        <p:spPr>
          <a:xfrm>
            <a:off x="914400" y="3108960"/>
            <a:ext cx="2286000" cy="457200"/>
          </a:xfrm>
          <a:prstGeom prst="rect">
            <a:avLst/>
          </a:prstGeom>
          <a:noFill/>
        </p:spPr>
        <p:txBody>
          <a:bodyPr wrap="square">
            <a:spAutoFit/>
          </a:bodyPr>
          <a:lstStyle/>
          <a:p>
            <a:pPr algn="ctr">
              <a:defRPr sz="1700" b="1" i="0">
                <a:solidFill>
                  <a:srgbClr val="232832"/>
                </a:solidFill>
                <a:latin typeface="Segoe UI Semibold"/>
              </a:defRPr>
            </a:pPr>
            <a:r>
              <a:t>Moharnab Gogoi</a:t>
            </a:r>
          </a:p>
        </p:txBody>
      </p:sp>
      <p:sp>
        <p:nvSpPr>
          <p:cNvPr id="15" name="Rectangle 14"/>
          <p:cNvSpPr/>
          <p:nvPr/>
        </p:nvSpPr>
        <p:spPr>
          <a:xfrm>
            <a:off x="1371600" y="3611879"/>
            <a:ext cx="1371600" cy="22860"/>
          </a:xfrm>
          <a:prstGeom prst="rect">
            <a:avLst/>
          </a:prstGeom>
          <a:solidFill>
            <a:srgbClr val="0082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 y="3840480"/>
            <a:ext cx="2286000" cy="731520"/>
          </a:xfrm>
          <a:prstGeom prst="rect">
            <a:avLst/>
          </a:prstGeom>
          <a:noFill/>
        </p:spPr>
        <p:txBody>
          <a:bodyPr wrap="square">
            <a:spAutoFit/>
          </a:bodyPr>
          <a:lstStyle/>
          <a:p>
            <a:pPr algn="ctr">
              <a:defRPr sz="1400" b="0" i="0">
                <a:solidFill>
                  <a:srgbClr val="46505F"/>
                </a:solidFill>
                <a:latin typeface="Segoe UI"/>
              </a:defRPr>
            </a:pPr>
            <a:r>
              <a:t>IoT / Backend</a:t>
            </a:r>
          </a:p>
        </p:txBody>
      </p:sp>
      <p:sp>
        <p:nvSpPr>
          <p:cNvPr id="17" name="Rounded Rectangle 16"/>
          <p:cNvSpPr/>
          <p:nvPr/>
        </p:nvSpPr>
        <p:spPr>
          <a:xfrm>
            <a:off x="3703320" y="1783080"/>
            <a:ext cx="2468880" cy="3291840"/>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3657600" y="1737360"/>
            <a:ext cx="24688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0" y="1737360"/>
            <a:ext cx="2468880" cy="640080"/>
          </a:xfrm>
          <a:prstGeom prst="rect">
            <a:avLst/>
          </a:prstGeom>
          <a:solidFill>
            <a:srgbClr val="28A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480560" y="2057400"/>
            <a:ext cx="822960" cy="822960"/>
          </a:xfrm>
          <a:prstGeom prst="ellipse">
            <a:avLst/>
          </a:prstGeom>
          <a:solidFill>
            <a:srgbClr val="FFFFFF"/>
          </a:solidFill>
          <a:ln w="31750">
            <a:solidFill>
              <a:srgbClr val="28AF7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80560" y="2148840"/>
            <a:ext cx="822960" cy="640080"/>
          </a:xfrm>
          <a:prstGeom prst="rect">
            <a:avLst/>
          </a:prstGeom>
          <a:noFill/>
        </p:spPr>
        <p:txBody>
          <a:bodyPr wrap="square">
            <a:spAutoFit/>
          </a:bodyPr>
          <a:lstStyle/>
          <a:p>
            <a:pPr algn="ctr">
              <a:defRPr sz="2200" b="1" i="0">
                <a:solidFill>
                  <a:srgbClr val="28AF78"/>
                </a:solidFill>
                <a:latin typeface="Segoe UI Semibold"/>
              </a:defRPr>
            </a:pPr>
            <a:r>
              <a:t>AB</a:t>
            </a:r>
          </a:p>
        </p:txBody>
      </p:sp>
      <p:sp>
        <p:nvSpPr>
          <p:cNvPr id="22" name="TextBox 21"/>
          <p:cNvSpPr txBox="1"/>
          <p:nvPr/>
        </p:nvSpPr>
        <p:spPr>
          <a:xfrm>
            <a:off x="3749040" y="3108960"/>
            <a:ext cx="2286000" cy="457200"/>
          </a:xfrm>
          <a:prstGeom prst="rect">
            <a:avLst/>
          </a:prstGeom>
          <a:noFill/>
        </p:spPr>
        <p:txBody>
          <a:bodyPr wrap="square">
            <a:spAutoFit/>
          </a:bodyPr>
          <a:lstStyle/>
          <a:p>
            <a:pPr algn="ctr">
              <a:defRPr sz="1700" b="1" i="0">
                <a:solidFill>
                  <a:srgbClr val="232832"/>
                </a:solidFill>
                <a:latin typeface="Segoe UI Semibold"/>
              </a:defRPr>
            </a:pPr>
            <a:r>
              <a:t>Aryyaman Bora</a:t>
            </a:r>
          </a:p>
        </p:txBody>
      </p:sp>
      <p:sp>
        <p:nvSpPr>
          <p:cNvPr id="23" name="Rectangle 22"/>
          <p:cNvSpPr/>
          <p:nvPr/>
        </p:nvSpPr>
        <p:spPr>
          <a:xfrm>
            <a:off x="4206240" y="3611879"/>
            <a:ext cx="1371600" cy="22860"/>
          </a:xfrm>
          <a:prstGeom prst="rect">
            <a:avLst/>
          </a:prstGeom>
          <a:solidFill>
            <a:srgbClr val="28A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49040" y="3840480"/>
            <a:ext cx="2286000" cy="731520"/>
          </a:xfrm>
          <a:prstGeom prst="rect">
            <a:avLst/>
          </a:prstGeom>
          <a:noFill/>
        </p:spPr>
        <p:txBody>
          <a:bodyPr wrap="square">
            <a:spAutoFit/>
          </a:bodyPr>
          <a:lstStyle/>
          <a:p>
            <a:pPr algn="ctr">
              <a:defRPr sz="1400" b="0" i="0">
                <a:solidFill>
                  <a:srgbClr val="46505F"/>
                </a:solidFill>
                <a:latin typeface="Segoe UI"/>
              </a:defRPr>
            </a:pPr>
            <a:r>
              <a:t>Frontend</a:t>
            </a:r>
          </a:p>
        </p:txBody>
      </p:sp>
      <p:sp>
        <p:nvSpPr>
          <p:cNvPr id="25" name="Rounded Rectangle 24"/>
          <p:cNvSpPr/>
          <p:nvPr/>
        </p:nvSpPr>
        <p:spPr>
          <a:xfrm>
            <a:off x="6537960" y="1783080"/>
            <a:ext cx="2468880" cy="3291840"/>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492240" y="1737360"/>
            <a:ext cx="24688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6492240" y="1737360"/>
            <a:ext cx="2468880" cy="640080"/>
          </a:xfrm>
          <a:prstGeom prst="rect">
            <a:avLst/>
          </a:prstGeom>
          <a:solidFill>
            <a:srgbClr val="C3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7315200" y="2057400"/>
            <a:ext cx="822960" cy="822960"/>
          </a:xfrm>
          <a:prstGeom prst="ellipse">
            <a:avLst/>
          </a:prstGeom>
          <a:solidFill>
            <a:srgbClr val="FFFFFF"/>
          </a:solidFill>
          <a:ln w="31750">
            <a:solidFill>
              <a:srgbClr val="C3502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7315200" y="2148840"/>
            <a:ext cx="822960" cy="640080"/>
          </a:xfrm>
          <a:prstGeom prst="rect">
            <a:avLst/>
          </a:prstGeom>
          <a:noFill/>
        </p:spPr>
        <p:txBody>
          <a:bodyPr wrap="square">
            <a:spAutoFit/>
          </a:bodyPr>
          <a:lstStyle/>
          <a:p>
            <a:pPr algn="ctr">
              <a:defRPr sz="2200" b="1" i="0">
                <a:solidFill>
                  <a:srgbClr val="C35028"/>
                </a:solidFill>
                <a:latin typeface="Segoe UI Semibold"/>
              </a:defRPr>
            </a:pPr>
            <a:r>
              <a:t>MK</a:t>
            </a:r>
          </a:p>
        </p:txBody>
      </p:sp>
      <p:sp>
        <p:nvSpPr>
          <p:cNvPr id="30" name="TextBox 29"/>
          <p:cNvSpPr txBox="1"/>
          <p:nvPr/>
        </p:nvSpPr>
        <p:spPr>
          <a:xfrm>
            <a:off x="6583680" y="3108960"/>
            <a:ext cx="2286000" cy="457200"/>
          </a:xfrm>
          <a:prstGeom prst="rect">
            <a:avLst/>
          </a:prstGeom>
          <a:noFill/>
        </p:spPr>
        <p:txBody>
          <a:bodyPr wrap="square">
            <a:spAutoFit/>
          </a:bodyPr>
          <a:lstStyle/>
          <a:p>
            <a:pPr algn="ctr">
              <a:defRPr sz="1700" b="1" i="0">
                <a:solidFill>
                  <a:srgbClr val="232832"/>
                </a:solidFill>
                <a:latin typeface="Segoe UI Semibold"/>
              </a:defRPr>
            </a:pPr>
            <a:r>
              <a:t>Mayuree Khanikar</a:t>
            </a:r>
          </a:p>
        </p:txBody>
      </p:sp>
      <p:sp>
        <p:nvSpPr>
          <p:cNvPr id="31" name="Rectangle 30"/>
          <p:cNvSpPr/>
          <p:nvPr/>
        </p:nvSpPr>
        <p:spPr>
          <a:xfrm>
            <a:off x="7040880" y="3611879"/>
            <a:ext cx="1371600" cy="22860"/>
          </a:xfrm>
          <a:prstGeom prst="rect">
            <a:avLst/>
          </a:prstGeom>
          <a:solidFill>
            <a:srgbClr val="C3502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583680" y="3840480"/>
            <a:ext cx="2286000" cy="731520"/>
          </a:xfrm>
          <a:prstGeom prst="rect">
            <a:avLst/>
          </a:prstGeom>
          <a:noFill/>
        </p:spPr>
        <p:txBody>
          <a:bodyPr wrap="square">
            <a:spAutoFit/>
          </a:bodyPr>
          <a:lstStyle/>
          <a:p>
            <a:pPr algn="ctr">
              <a:defRPr sz="1400" b="0" i="0">
                <a:solidFill>
                  <a:srgbClr val="46505F"/>
                </a:solidFill>
                <a:latin typeface="Segoe UI"/>
              </a:defRPr>
            </a:pPr>
            <a:r>
              <a:t>Documentation / Research</a:t>
            </a:r>
          </a:p>
        </p:txBody>
      </p:sp>
      <p:sp>
        <p:nvSpPr>
          <p:cNvPr id="33" name="Rounded Rectangle 32"/>
          <p:cNvSpPr/>
          <p:nvPr/>
        </p:nvSpPr>
        <p:spPr>
          <a:xfrm>
            <a:off x="9372600" y="1783080"/>
            <a:ext cx="2468880" cy="3291840"/>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9326880" y="1737360"/>
            <a:ext cx="2468880" cy="329184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9326880" y="1737360"/>
            <a:ext cx="2468880" cy="640080"/>
          </a:xfrm>
          <a:prstGeom prst="rect">
            <a:avLst/>
          </a:prstGeom>
          <a:solidFill>
            <a:srgbClr val="6E3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val 35"/>
          <p:cNvSpPr/>
          <p:nvPr/>
        </p:nvSpPr>
        <p:spPr>
          <a:xfrm>
            <a:off x="10149840" y="2057400"/>
            <a:ext cx="822960" cy="822960"/>
          </a:xfrm>
          <a:prstGeom prst="ellipse">
            <a:avLst/>
          </a:prstGeom>
          <a:solidFill>
            <a:srgbClr val="FFFFFF"/>
          </a:solidFill>
          <a:ln w="31750">
            <a:solidFill>
              <a:srgbClr val="6E379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10149840" y="2148840"/>
            <a:ext cx="822960" cy="640080"/>
          </a:xfrm>
          <a:prstGeom prst="rect">
            <a:avLst/>
          </a:prstGeom>
          <a:noFill/>
        </p:spPr>
        <p:txBody>
          <a:bodyPr wrap="square">
            <a:spAutoFit/>
          </a:bodyPr>
          <a:lstStyle/>
          <a:p>
            <a:pPr algn="ctr">
              <a:defRPr sz="2200" b="1" i="0">
                <a:solidFill>
                  <a:srgbClr val="6E379B"/>
                </a:solidFill>
                <a:latin typeface="Segoe UI Semibold"/>
              </a:defRPr>
            </a:pPr>
            <a:r>
              <a:t>IG</a:t>
            </a:r>
          </a:p>
        </p:txBody>
      </p:sp>
      <p:sp>
        <p:nvSpPr>
          <p:cNvPr id="38" name="TextBox 37"/>
          <p:cNvSpPr txBox="1"/>
          <p:nvPr/>
        </p:nvSpPr>
        <p:spPr>
          <a:xfrm>
            <a:off x="9418320" y="3108960"/>
            <a:ext cx="2286000" cy="457200"/>
          </a:xfrm>
          <a:prstGeom prst="rect">
            <a:avLst/>
          </a:prstGeom>
          <a:noFill/>
        </p:spPr>
        <p:txBody>
          <a:bodyPr wrap="square">
            <a:spAutoFit/>
          </a:bodyPr>
          <a:lstStyle/>
          <a:p>
            <a:pPr algn="ctr">
              <a:defRPr sz="1700" b="1" i="0">
                <a:solidFill>
                  <a:srgbClr val="232832"/>
                </a:solidFill>
                <a:latin typeface="Segoe UI Semibold"/>
              </a:defRPr>
            </a:pPr>
            <a:r>
              <a:t>Indrani Gogoi</a:t>
            </a:r>
          </a:p>
        </p:txBody>
      </p:sp>
      <p:sp>
        <p:nvSpPr>
          <p:cNvPr id="39" name="Rectangle 38"/>
          <p:cNvSpPr/>
          <p:nvPr/>
        </p:nvSpPr>
        <p:spPr>
          <a:xfrm>
            <a:off x="9875520" y="3611879"/>
            <a:ext cx="1371600" cy="22860"/>
          </a:xfrm>
          <a:prstGeom prst="rect">
            <a:avLst/>
          </a:prstGeom>
          <a:solidFill>
            <a:srgbClr val="6E37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418320" y="3840480"/>
            <a:ext cx="2286000" cy="731520"/>
          </a:xfrm>
          <a:prstGeom prst="rect">
            <a:avLst/>
          </a:prstGeom>
          <a:noFill/>
        </p:spPr>
        <p:txBody>
          <a:bodyPr wrap="square">
            <a:spAutoFit/>
          </a:bodyPr>
          <a:lstStyle/>
          <a:p>
            <a:pPr algn="ctr">
              <a:defRPr sz="1400" b="0" i="0">
                <a:solidFill>
                  <a:srgbClr val="46505F"/>
                </a:solidFill>
                <a:latin typeface="Segoe UI"/>
              </a:defRPr>
            </a:pPr>
            <a:r>
              <a:t>Documentation / Research</a:t>
            </a:r>
          </a:p>
        </p:txBody>
      </p:sp>
      <p:sp>
        <p:nvSpPr>
          <p:cNvPr id="41" name="TextBox 40"/>
          <p:cNvSpPr txBox="1"/>
          <p:nvPr/>
        </p:nvSpPr>
        <p:spPr>
          <a:xfrm>
            <a:off x="457200" y="5394960"/>
            <a:ext cx="11247120" cy="457200"/>
          </a:xfrm>
          <a:prstGeom prst="rect">
            <a:avLst/>
          </a:prstGeom>
          <a:noFill/>
        </p:spPr>
        <p:txBody>
          <a:bodyPr wrap="square">
            <a:spAutoFit/>
          </a:bodyPr>
          <a:lstStyle/>
          <a:p>
            <a:pPr algn="ctr">
              <a:defRPr sz="1300" b="0" i="1">
                <a:solidFill>
                  <a:srgbClr val="788291"/>
                </a:solidFill>
                <a:latin typeface="Segoe UI Light"/>
              </a:defRPr>
            </a:pPr>
            <a:r>
              <a:t>All team members contributed collaboratively across hardware assembly, coding, testing, and documentation.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1 — Push Button &amp; IR Sensor with ESP32</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5</a:t>
            </a:r>
          </a:p>
        </p:txBody>
      </p:sp>
      <p:sp>
        <p:nvSpPr>
          <p:cNvPr id="9" name="TextBox 8"/>
          <p:cNvSpPr txBox="1"/>
          <p:nvPr/>
        </p:nvSpPr>
        <p:spPr>
          <a:xfrm>
            <a:off x="432816" y="996696"/>
            <a:ext cx="6400800" cy="2120709"/>
          </a:xfrm>
          <a:prstGeom prst="rect">
            <a:avLst/>
          </a:prstGeom>
          <a:noFill/>
        </p:spPr>
        <p:txBody>
          <a:bodyPr wrap="square">
            <a:spAutoFit/>
          </a:bodyPr>
          <a:lstStyle/>
          <a:p>
            <a:pPr marL="285750" indent="-285750">
              <a:lnSpc>
                <a:spcPts val="2000"/>
              </a:lnSpc>
              <a:spcAft>
                <a:spcPts val="1000"/>
              </a:spcAft>
              <a:buFont typeface="Arial" panose="020B0604020202020204" pitchFamily="34" charset="0"/>
              <a:buChar char="•"/>
            </a:pPr>
            <a:r>
              <a:rPr sz="1400" b="1" dirty="0">
                <a:solidFill>
                  <a:srgbClr val="0F284B"/>
                </a:solidFill>
                <a:latin typeface="Amasis MT Pro" panose="02040504050005020304" pitchFamily="18" charset="0"/>
              </a:rPr>
              <a:t>Objective: </a:t>
            </a:r>
            <a:r>
              <a:rPr sz="1400" dirty="0">
                <a:solidFill>
                  <a:srgbClr val="232832"/>
                </a:solidFill>
                <a:latin typeface="Amasis MT Pro" panose="02040504050005020304" pitchFamily="18" charset="0"/>
              </a:rPr>
              <a:t>Interface a push button or IR sensor with ESP32 to control an LED based on digital input signals.</a:t>
            </a:r>
          </a:p>
          <a:p>
            <a:pPr marL="285750" indent="-285750">
              <a:lnSpc>
                <a:spcPts val="2000"/>
              </a:lnSpc>
              <a:spcAft>
                <a:spcPts val="1000"/>
              </a:spcAft>
              <a:buFont typeface="Arial" panose="020B0604020202020204" pitchFamily="34" charset="0"/>
              <a:buChar char="•"/>
            </a:pPr>
            <a:r>
              <a:rPr sz="1400" b="1" dirty="0">
                <a:solidFill>
                  <a:srgbClr val="0F284B"/>
                </a:solidFill>
                <a:latin typeface="Amasis MT Pro" panose="02040504050005020304" pitchFamily="18" charset="0"/>
              </a:rPr>
              <a:t>Working Principle: </a:t>
            </a:r>
            <a:r>
              <a:rPr sz="1400" dirty="0">
                <a:solidFill>
                  <a:srgbClr val="232832"/>
                </a:solidFill>
                <a:latin typeface="Amasis MT Pro" panose="02040504050005020304" pitchFamily="18" charset="0"/>
              </a:rPr>
              <a:t>The </a:t>
            </a:r>
            <a:r>
              <a:rPr sz="1400" dirty="0" err="1">
                <a:solidFill>
                  <a:srgbClr val="232832"/>
                </a:solidFill>
                <a:latin typeface="Amasis MT Pro" panose="02040504050005020304" pitchFamily="18" charset="0"/>
              </a:rPr>
              <a:t>digitalRead</a:t>
            </a:r>
            <a:r>
              <a:rPr sz="1400" dirty="0">
                <a:solidFill>
                  <a:srgbClr val="232832"/>
                </a:solidFill>
                <a:latin typeface="Amasis MT Pro" panose="02040504050005020304" pitchFamily="18" charset="0"/>
              </a:rPr>
              <a:t>() function reads the sensor state on GPIO 4. If HIGH, the LED on GPIO 13 is turned ON via </a:t>
            </a:r>
            <a:r>
              <a:rPr sz="1400" dirty="0" err="1">
                <a:solidFill>
                  <a:srgbClr val="232832"/>
                </a:solidFill>
                <a:latin typeface="Amasis MT Pro" panose="02040504050005020304" pitchFamily="18" charset="0"/>
              </a:rPr>
              <a:t>digitalWrite</a:t>
            </a:r>
            <a:r>
              <a:rPr sz="1400" dirty="0">
                <a:solidFill>
                  <a:srgbClr val="232832"/>
                </a:solidFill>
                <a:latin typeface="Amasis MT Pro" panose="02040504050005020304" pitchFamily="18" charset="0"/>
              </a:rPr>
              <a:t>(). The loop() function runs continuously to monitor the sensor in real-time.</a:t>
            </a:r>
          </a:p>
          <a:p>
            <a:pPr marL="285750" indent="-285750">
              <a:lnSpc>
                <a:spcPts val="2000"/>
              </a:lnSpc>
              <a:spcAft>
                <a:spcPts val="1000"/>
              </a:spcAft>
              <a:buFont typeface="Arial" panose="020B0604020202020204" pitchFamily="34" charset="0"/>
              <a:buChar char="•"/>
            </a:pPr>
            <a:r>
              <a:rPr sz="1400" b="1" dirty="0">
                <a:solidFill>
                  <a:srgbClr val="0F284B"/>
                </a:solidFill>
                <a:latin typeface="Amasis MT Pro" panose="02040504050005020304" pitchFamily="18" charset="0"/>
              </a:rPr>
              <a:t>Components: </a:t>
            </a:r>
            <a:r>
              <a:rPr sz="1400" dirty="0">
                <a:solidFill>
                  <a:srgbClr val="232832"/>
                </a:solidFill>
                <a:latin typeface="Amasis MT Pro" panose="02040504050005020304" pitchFamily="18" charset="0"/>
              </a:rPr>
              <a:t>ESP32 </a:t>
            </a:r>
            <a:r>
              <a:rPr sz="1400" dirty="0" err="1">
                <a:solidFill>
                  <a:srgbClr val="232832"/>
                </a:solidFill>
                <a:latin typeface="Amasis MT Pro" panose="02040504050005020304" pitchFamily="18" charset="0"/>
              </a:rPr>
              <a:t>DevKit</a:t>
            </a:r>
            <a:r>
              <a:rPr sz="1400" dirty="0">
                <a:solidFill>
                  <a:srgbClr val="232832"/>
                </a:solidFill>
                <a:latin typeface="Amasis MT Pro" panose="02040504050005020304" pitchFamily="18" charset="0"/>
              </a:rPr>
              <a:t>, LED, 220 Ω Resistor, Push Button, IR Obstacle Sensor, Breadboard, Jumper Wires.</a:t>
            </a:r>
          </a:p>
        </p:txBody>
      </p:sp>
      <p:graphicFrame>
        <p:nvGraphicFramePr>
          <p:cNvPr id="10" name="Table 9"/>
          <p:cNvGraphicFramePr>
            <a:graphicFrameLocks noGrp="1"/>
          </p:cNvGraphicFramePr>
          <p:nvPr>
            <p:extLst>
              <p:ext uri="{D42A27DB-BD31-4B8C-83A1-F6EECF244321}">
                <p14:modId xmlns:p14="http://schemas.microsoft.com/office/powerpoint/2010/main" val="3265080288"/>
              </p:ext>
            </p:extLst>
          </p:nvPr>
        </p:nvGraphicFramePr>
        <p:xfrm>
          <a:off x="792327" y="3896480"/>
          <a:ext cx="5303520" cy="1920240"/>
        </p:xfrm>
        <a:graphic>
          <a:graphicData uri="http://schemas.openxmlformats.org/drawingml/2006/table">
            <a:tbl>
              <a:tblPr firstRow="1" bandRow="1">
                <a:tableStyleId>{5C22544A-7EE6-4342-B048-85BDC9FD1C3A}</a:tableStyleId>
              </a:tblPr>
              <a:tblGrid>
                <a:gridCol w="26517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tblGrid>
              <a:tr h="320040">
                <a:tc>
                  <a:txBody>
                    <a:bodyPr/>
                    <a:lstStyle/>
                    <a:p>
                      <a:pPr>
                        <a:defRPr sz="1200" b="1">
                          <a:solidFill>
                            <a:srgbClr val="FFFFFF"/>
                          </a:solidFill>
                          <a:latin typeface="Segoe UI Semibold"/>
                        </a:defRPr>
                      </a:pPr>
                      <a:r>
                        <a:t>ESP32 Pin</a:t>
                      </a:r>
                    </a:p>
                  </a:txBody>
                  <a:tcPr>
                    <a:solidFill>
                      <a:srgbClr val="0F284B"/>
                    </a:solidFill>
                  </a:tcPr>
                </a:tc>
                <a:tc>
                  <a:txBody>
                    <a:bodyPr/>
                    <a:lstStyle/>
                    <a:p>
                      <a:pPr>
                        <a:defRPr sz="1200" b="1">
                          <a:solidFill>
                            <a:srgbClr val="FFFFFF"/>
                          </a:solidFill>
                          <a:latin typeface="Segoe UI Semibold"/>
                        </a:defRPr>
                      </a:pPr>
                      <a:r>
                        <a:t>Connection</a:t>
                      </a:r>
                    </a:p>
                  </a:txBody>
                  <a:tcPr>
                    <a:solidFill>
                      <a:srgbClr val="0F284B"/>
                    </a:solidFill>
                  </a:tcPr>
                </a:tc>
                <a:extLst>
                  <a:ext uri="{0D108BD9-81ED-4DB2-BD59-A6C34878D82A}">
                    <a16:rowId xmlns:a16="http://schemas.microsoft.com/office/drawing/2014/main" val="10000"/>
                  </a:ext>
                </a:extLst>
              </a:tr>
              <a:tr h="320040">
                <a:tc>
                  <a:txBody>
                    <a:bodyPr/>
                    <a:lstStyle/>
                    <a:p>
                      <a:pPr>
                        <a:defRPr sz="1100">
                          <a:solidFill>
                            <a:srgbClr val="232832"/>
                          </a:solidFill>
                          <a:latin typeface="Segoe UI"/>
                        </a:defRPr>
                      </a:pPr>
                      <a:r>
                        <a:t>Pin 13</a:t>
                      </a:r>
                    </a:p>
                  </a:txBody>
                  <a:tcPr/>
                </a:tc>
                <a:tc>
                  <a:txBody>
                    <a:bodyPr/>
                    <a:lstStyle/>
                    <a:p>
                      <a:pPr>
                        <a:defRPr sz="1100">
                          <a:solidFill>
                            <a:srgbClr val="232832"/>
                          </a:solidFill>
                          <a:latin typeface="Segoe UI"/>
                        </a:defRPr>
                      </a:pPr>
                      <a:r>
                        <a:rPr dirty="0"/>
                        <a:t>LED Anode (via 220Ω resistor)</a:t>
                      </a:r>
                    </a:p>
                  </a:txBody>
                  <a:tcPr/>
                </a:tc>
                <a:extLst>
                  <a:ext uri="{0D108BD9-81ED-4DB2-BD59-A6C34878D82A}">
                    <a16:rowId xmlns:a16="http://schemas.microsoft.com/office/drawing/2014/main" val="10001"/>
                  </a:ext>
                </a:extLst>
              </a:tr>
              <a:tr h="320040">
                <a:tc>
                  <a:txBody>
                    <a:bodyPr/>
                    <a:lstStyle/>
                    <a:p>
                      <a:pPr>
                        <a:defRPr sz="1100">
                          <a:solidFill>
                            <a:srgbClr val="232832"/>
                          </a:solidFill>
                          <a:latin typeface="Segoe UI"/>
                        </a:defRPr>
                      </a:pPr>
                      <a:r>
                        <a:t>GND</a:t>
                      </a:r>
                    </a:p>
                  </a:txBody>
                  <a:tcPr/>
                </a:tc>
                <a:tc>
                  <a:txBody>
                    <a:bodyPr/>
                    <a:lstStyle/>
                    <a:p>
                      <a:pPr>
                        <a:defRPr sz="1100">
                          <a:solidFill>
                            <a:srgbClr val="232832"/>
                          </a:solidFill>
                          <a:latin typeface="Segoe UI"/>
                        </a:defRPr>
                      </a:pPr>
                      <a:r>
                        <a:rPr dirty="0"/>
                        <a:t>LED Cathode</a:t>
                      </a:r>
                    </a:p>
                  </a:txBody>
                  <a:tcPr/>
                </a:tc>
                <a:extLst>
                  <a:ext uri="{0D108BD9-81ED-4DB2-BD59-A6C34878D82A}">
                    <a16:rowId xmlns:a16="http://schemas.microsoft.com/office/drawing/2014/main" val="10002"/>
                  </a:ext>
                </a:extLst>
              </a:tr>
              <a:tr h="320040">
                <a:tc>
                  <a:txBody>
                    <a:bodyPr/>
                    <a:lstStyle/>
                    <a:p>
                      <a:pPr>
                        <a:defRPr sz="1100">
                          <a:solidFill>
                            <a:srgbClr val="232832"/>
                          </a:solidFill>
                          <a:latin typeface="Segoe UI"/>
                        </a:defRPr>
                      </a:pPr>
                      <a:r>
                        <a:t>Pin 4</a:t>
                      </a:r>
                    </a:p>
                  </a:txBody>
                  <a:tcPr/>
                </a:tc>
                <a:tc>
                  <a:txBody>
                    <a:bodyPr/>
                    <a:lstStyle/>
                    <a:p>
                      <a:pPr>
                        <a:defRPr sz="1100">
                          <a:solidFill>
                            <a:srgbClr val="232832"/>
                          </a:solidFill>
                          <a:latin typeface="Segoe UI"/>
                        </a:defRPr>
                      </a:pPr>
                      <a:r>
                        <a:t>Push Button / IR Sensor OUT</a:t>
                      </a:r>
                    </a:p>
                  </a:txBody>
                  <a:tcPr/>
                </a:tc>
                <a:extLst>
                  <a:ext uri="{0D108BD9-81ED-4DB2-BD59-A6C34878D82A}">
                    <a16:rowId xmlns:a16="http://schemas.microsoft.com/office/drawing/2014/main" val="10003"/>
                  </a:ext>
                </a:extLst>
              </a:tr>
              <a:tr h="320040">
                <a:tc>
                  <a:txBody>
                    <a:bodyPr/>
                    <a:lstStyle/>
                    <a:p>
                      <a:pPr>
                        <a:defRPr sz="1100">
                          <a:solidFill>
                            <a:srgbClr val="232832"/>
                          </a:solidFill>
                          <a:latin typeface="Segoe UI"/>
                        </a:defRPr>
                      </a:pPr>
                      <a:r>
                        <a:t>5V</a:t>
                      </a:r>
                    </a:p>
                  </a:txBody>
                  <a:tcPr/>
                </a:tc>
                <a:tc>
                  <a:txBody>
                    <a:bodyPr/>
                    <a:lstStyle/>
                    <a:p>
                      <a:pPr>
                        <a:defRPr sz="1100">
                          <a:solidFill>
                            <a:srgbClr val="232832"/>
                          </a:solidFill>
                          <a:latin typeface="Segoe UI"/>
                        </a:defRPr>
                      </a:pPr>
                      <a:r>
                        <a:t>IR Sensor VCC</a:t>
                      </a:r>
                    </a:p>
                  </a:txBody>
                  <a:tcPr/>
                </a:tc>
                <a:extLst>
                  <a:ext uri="{0D108BD9-81ED-4DB2-BD59-A6C34878D82A}">
                    <a16:rowId xmlns:a16="http://schemas.microsoft.com/office/drawing/2014/main" val="10004"/>
                  </a:ext>
                </a:extLst>
              </a:tr>
              <a:tr h="320040">
                <a:tc>
                  <a:txBody>
                    <a:bodyPr/>
                    <a:lstStyle/>
                    <a:p>
                      <a:pPr>
                        <a:defRPr sz="1100">
                          <a:solidFill>
                            <a:srgbClr val="232832"/>
                          </a:solidFill>
                          <a:latin typeface="Segoe UI"/>
                        </a:defRPr>
                      </a:pPr>
                      <a:r>
                        <a:t>GND</a:t>
                      </a:r>
                    </a:p>
                  </a:txBody>
                  <a:tcPr/>
                </a:tc>
                <a:tc>
                  <a:txBody>
                    <a:bodyPr/>
                    <a:lstStyle/>
                    <a:p>
                      <a:pPr>
                        <a:defRPr sz="1100">
                          <a:solidFill>
                            <a:srgbClr val="232832"/>
                          </a:solidFill>
                          <a:latin typeface="Segoe UI"/>
                        </a:defRPr>
                      </a:pPr>
                      <a:r>
                        <a:rPr dirty="0"/>
                        <a:t>IR Sensor GND</a:t>
                      </a:r>
                    </a:p>
                  </a:txBody>
                  <a:tcPr/>
                </a:tc>
                <a:extLst>
                  <a:ext uri="{0D108BD9-81ED-4DB2-BD59-A6C34878D82A}">
                    <a16:rowId xmlns:a16="http://schemas.microsoft.com/office/drawing/2014/main" val="10005"/>
                  </a:ext>
                </a:extLst>
              </a:tr>
            </a:tbl>
          </a:graphicData>
        </a:graphic>
      </p:graphicFrame>
      <p:sp>
        <p:nvSpPr>
          <p:cNvPr id="11" name="Rounded Rectangle 10"/>
          <p:cNvSpPr/>
          <p:nvPr/>
        </p:nvSpPr>
        <p:spPr>
          <a:xfrm>
            <a:off x="6778752" y="996696"/>
            <a:ext cx="5230368" cy="1904223"/>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lock_exp1.png"/>
          <p:cNvPicPr>
            <a:picLocks noChangeAspect="1"/>
          </p:cNvPicPr>
          <p:nvPr/>
        </p:nvPicPr>
        <p:blipFill>
          <a:blip r:embed="rId2"/>
          <a:stretch>
            <a:fillRect/>
          </a:stretch>
        </p:blipFill>
        <p:spPr>
          <a:xfrm>
            <a:off x="6833616" y="1051560"/>
            <a:ext cx="5120640" cy="17944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3" name="TextBox 12"/>
          <p:cNvSpPr txBox="1"/>
          <p:nvPr/>
        </p:nvSpPr>
        <p:spPr>
          <a:xfrm>
            <a:off x="7071360" y="2900919"/>
            <a:ext cx="5120640" cy="320040"/>
          </a:xfrm>
          <a:prstGeom prst="rect">
            <a:avLst/>
          </a:prstGeom>
          <a:noFill/>
        </p:spPr>
        <p:txBody>
          <a:bodyPr wrap="square">
            <a:spAutoFit/>
          </a:bodyPr>
          <a:lstStyle/>
          <a:p>
            <a:pPr algn="ctr">
              <a:defRPr sz="1100" b="0" i="1">
                <a:solidFill>
                  <a:srgbClr val="788291"/>
                </a:solidFill>
                <a:latin typeface="Segoe UI Light"/>
              </a:defRPr>
            </a:pPr>
            <a:r>
              <a:rPr dirty="0"/>
              <a:t>Fig 1.1 — Block Diagram: Push Button / IR → ESP32 → LED</a:t>
            </a:r>
          </a:p>
        </p:txBody>
      </p:sp>
      <p:sp>
        <p:nvSpPr>
          <p:cNvPr id="14" name="Rounded Rectangle 13"/>
          <p:cNvSpPr/>
          <p:nvPr/>
        </p:nvSpPr>
        <p:spPr>
          <a:xfrm>
            <a:off x="7942434" y="3199069"/>
            <a:ext cx="3297740" cy="2841513"/>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6" name="TextBox 15"/>
          <p:cNvSpPr txBox="1"/>
          <p:nvPr/>
        </p:nvSpPr>
        <p:spPr>
          <a:xfrm>
            <a:off x="8267469" y="6064873"/>
            <a:ext cx="2821287" cy="261610"/>
          </a:xfrm>
          <a:prstGeom prst="rect">
            <a:avLst/>
          </a:prstGeom>
          <a:noFill/>
        </p:spPr>
        <p:txBody>
          <a:bodyPr wrap="square">
            <a:spAutoFit/>
          </a:bodyPr>
          <a:lstStyle/>
          <a:p>
            <a:pPr algn="ctr">
              <a:defRPr sz="1100" b="0" i="1">
                <a:solidFill>
                  <a:srgbClr val="788291"/>
                </a:solidFill>
                <a:latin typeface="Segoe UI Light"/>
              </a:defRPr>
            </a:pPr>
            <a:r>
              <a:rPr dirty="0"/>
              <a:t>Fig 1.2 — IoT Development Board with ESP32</a:t>
            </a:r>
          </a:p>
        </p:txBody>
      </p:sp>
      <p:pic>
        <p:nvPicPr>
          <p:cNvPr id="18" name="Picture 17">
            <a:extLst>
              <a:ext uri="{FF2B5EF4-FFF2-40B4-BE49-F238E27FC236}">
                <a16:creationId xmlns:a16="http://schemas.microsoft.com/office/drawing/2014/main" id="{F7FD34B7-4AA6-7BCC-E752-E9A5482EFE3D}"/>
              </a:ext>
            </a:extLst>
          </p:cNvPr>
          <p:cNvPicPr>
            <a:picLocks noChangeAspect="1"/>
          </p:cNvPicPr>
          <p:nvPr/>
        </p:nvPicPr>
        <p:blipFill>
          <a:blip r:embed="rId3"/>
          <a:srcRect t="26236" b="8153"/>
          <a:stretch>
            <a:fillRect/>
          </a:stretch>
        </p:blipFill>
        <p:spPr>
          <a:xfrm>
            <a:off x="8113643" y="3299653"/>
            <a:ext cx="2975113" cy="257738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1 — Code, Output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6</a:t>
            </a:r>
          </a:p>
        </p:txBody>
      </p:sp>
      <p:sp>
        <p:nvSpPr>
          <p:cNvPr id="9" name="Rounded Rectangle 8"/>
          <p:cNvSpPr/>
          <p:nvPr/>
        </p:nvSpPr>
        <p:spPr>
          <a:xfrm>
            <a:off x="457200" y="1051560"/>
            <a:ext cx="5486400" cy="4114800"/>
          </a:xfrm>
          <a:prstGeom prst="roundRect">
            <a:avLst/>
          </a:pr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5120640" cy="3886200"/>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rPr dirty="0"/>
              <a:t>const int </a:t>
            </a:r>
            <a:r>
              <a:rPr dirty="0" err="1"/>
              <a:t>sensorPin</a:t>
            </a:r>
            <a:r>
              <a:rPr dirty="0"/>
              <a:t> = 4;   // Push Button or IR</a:t>
            </a:r>
          </a:p>
          <a:p>
            <a:pPr>
              <a:lnSpc>
                <a:spcPts val="1500"/>
              </a:lnSpc>
              <a:spcAft>
                <a:spcPts val="200"/>
              </a:spcAft>
              <a:defRPr sz="1100">
                <a:solidFill>
                  <a:srgbClr val="BEEBC3"/>
                </a:solidFill>
                <a:latin typeface="Cascadia Code"/>
              </a:defRPr>
            </a:pPr>
            <a:r>
              <a:rPr dirty="0"/>
              <a:t>const int </a:t>
            </a:r>
            <a:r>
              <a:rPr dirty="0" err="1"/>
              <a:t>ledPin</a:t>
            </a:r>
            <a:r>
              <a:rPr dirty="0"/>
              <a:t> = 13;     // LED</a:t>
            </a:r>
          </a:p>
          <a:p>
            <a:pPr>
              <a:lnSpc>
                <a:spcPts val="1500"/>
              </a:lnSpc>
              <a:spcAft>
                <a:spcPts val="200"/>
              </a:spcAft>
              <a:defRPr sz="1100">
                <a:solidFill>
                  <a:srgbClr val="BEEBC3"/>
                </a:solidFill>
                <a:latin typeface="Cascadia Code"/>
              </a:defRPr>
            </a:pPr>
            <a:r>
              <a:rPr dirty="0"/>
              <a:t>int </a:t>
            </a:r>
            <a:r>
              <a:rPr dirty="0" err="1"/>
              <a:t>sensorState</a:t>
            </a:r>
            <a:r>
              <a:rPr dirty="0"/>
              <a:t> = 0;</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setup() {</a:t>
            </a:r>
          </a:p>
          <a:p>
            <a:pPr>
              <a:lnSpc>
                <a:spcPts val="1500"/>
              </a:lnSpc>
              <a:spcAft>
                <a:spcPts val="200"/>
              </a:spcAft>
              <a:defRPr sz="1100">
                <a:solidFill>
                  <a:srgbClr val="BEEBC3"/>
                </a:solidFill>
                <a:latin typeface="Cascadia Code"/>
              </a:defRPr>
            </a:pPr>
            <a:r>
              <a:rPr dirty="0"/>
              <a:t>  </a:t>
            </a:r>
            <a:r>
              <a:rPr dirty="0" err="1"/>
              <a:t>pinMode</a:t>
            </a:r>
            <a:r>
              <a:rPr dirty="0"/>
              <a:t>(</a:t>
            </a:r>
            <a:r>
              <a:rPr dirty="0" err="1"/>
              <a:t>ledPin</a:t>
            </a:r>
            <a:r>
              <a:rPr dirty="0"/>
              <a:t>, OUTPUT);</a:t>
            </a:r>
          </a:p>
          <a:p>
            <a:pPr>
              <a:lnSpc>
                <a:spcPts val="1500"/>
              </a:lnSpc>
              <a:spcAft>
                <a:spcPts val="200"/>
              </a:spcAft>
              <a:defRPr sz="1100">
                <a:solidFill>
                  <a:srgbClr val="BEEBC3"/>
                </a:solidFill>
                <a:latin typeface="Cascadia Code"/>
              </a:defRPr>
            </a:pPr>
            <a:r>
              <a:rPr dirty="0"/>
              <a:t>  </a:t>
            </a:r>
            <a:r>
              <a:rPr dirty="0" err="1"/>
              <a:t>pinMode</a:t>
            </a:r>
            <a:r>
              <a:rPr dirty="0"/>
              <a:t>(</a:t>
            </a:r>
            <a:r>
              <a:rPr dirty="0" err="1"/>
              <a:t>sensorPin</a:t>
            </a:r>
            <a:r>
              <a:rPr dirty="0"/>
              <a:t>, INPUT);</a:t>
            </a:r>
          </a:p>
          <a:p>
            <a:pPr>
              <a:lnSpc>
                <a:spcPts val="1500"/>
              </a:lnSpc>
              <a:spcAft>
                <a:spcPts val="200"/>
              </a:spcAft>
              <a:defRPr sz="1100">
                <a:solidFill>
                  <a:srgbClr val="BEEBC3"/>
                </a:solidFill>
                <a:latin typeface="Cascadia Code"/>
              </a:defRPr>
            </a:pPr>
            <a:r>
              <a:rPr dirty="0"/>
              <a: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loop() {</a:t>
            </a:r>
          </a:p>
          <a:p>
            <a:pPr>
              <a:lnSpc>
                <a:spcPts val="1500"/>
              </a:lnSpc>
              <a:spcAft>
                <a:spcPts val="200"/>
              </a:spcAft>
              <a:defRPr sz="1100">
                <a:solidFill>
                  <a:srgbClr val="BEEBC3"/>
                </a:solidFill>
                <a:latin typeface="Cascadia Code"/>
              </a:defRPr>
            </a:pPr>
            <a:r>
              <a:rPr dirty="0"/>
              <a:t>  </a:t>
            </a:r>
            <a:r>
              <a:rPr dirty="0" err="1"/>
              <a:t>sensorState</a:t>
            </a:r>
            <a:r>
              <a:rPr dirty="0"/>
              <a:t> = </a:t>
            </a:r>
            <a:r>
              <a:rPr dirty="0" err="1"/>
              <a:t>digitalRead</a:t>
            </a:r>
            <a:r>
              <a:rPr dirty="0"/>
              <a:t>(</a:t>
            </a:r>
            <a:r>
              <a:rPr dirty="0" err="1"/>
              <a:t>sensorPin</a:t>
            </a:r>
            <a:r>
              <a:rPr dirty="0"/>
              <a:t>);</a:t>
            </a:r>
          </a:p>
          <a:p>
            <a:pPr>
              <a:lnSpc>
                <a:spcPts val="1500"/>
              </a:lnSpc>
              <a:spcAft>
                <a:spcPts val="200"/>
              </a:spcAft>
              <a:defRPr sz="1100">
                <a:solidFill>
                  <a:srgbClr val="BEEBC3"/>
                </a:solidFill>
                <a:latin typeface="Cascadia Code"/>
              </a:defRPr>
            </a:pPr>
            <a:r>
              <a:rPr dirty="0"/>
              <a:t>  if (</a:t>
            </a:r>
            <a:r>
              <a:rPr dirty="0" err="1"/>
              <a:t>sensorState</a:t>
            </a:r>
            <a:r>
              <a:rPr dirty="0"/>
              <a:t> == HIGH)</a:t>
            </a:r>
          </a:p>
          <a:p>
            <a:pPr>
              <a:lnSpc>
                <a:spcPts val="1500"/>
              </a:lnSpc>
              <a:spcAft>
                <a:spcPts val="200"/>
              </a:spcAft>
              <a:defRPr sz="1100">
                <a:solidFill>
                  <a:srgbClr val="BEEBC3"/>
                </a:solidFill>
                <a:latin typeface="Cascadia Code"/>
              </a:defRPr>
            </a:pPr>
            <a:r>
              <a:rPr dirty="0"/>
              <a:t>    </a:t>
            </a:r>
            <a:r>
              <a:rPr dirty="0" err="1"/>
              <a:t>digitalWrite</a:t>
            </a:r>
            <a:r>
              <a:rPr dirty="0"/>
              <a:t>(</a:t>
            </a:r>
            <a:r>
              <a:rPr dirty="0" err="1"/>
              <a:t>ledPin</a:t>
            </a:r>
            <a:r>
              <a:rPr dirty="0"/>
              <a:t>, HIGH);   // LED ON</a:t>
            </a:r>
          </a:p>
          <a:p>
            <a:pPr>
              <a:lnSpc>
                <a:spcPts val="1500"/>
              </a:lnSpc>
              <a:spcAft>
                <a:spcPts val="200"/>
              </a:spcAft>
              <a:defRPr sz="1100">
                <a:solidFill>
                  <a:srgbClr val="BEEBC3"/>
                </a:solidFill>
                <a:latin typeface="Cascadia Code"/>
              </a:defRPr>
            </a:pPr>
            <a:r>
              <a:rPr dirty="0"/>
              <a:t>  else</a:t>
            </a:r>
          </a:p>
          <a:p>
            <a:pPr>
              <a:lnSpc>
                <a:spcPts val="1500"/>
              </a:lnSpc>
              <a:spcAft>
                <a:spcPts val="200"/>
              </a:spcAft>
              <a:defRPr sz="1100">
                <a:solidFill>
                  <a:srgbClr val="BEEBC3"/>
                </a:solidFill>
                <a:latin typeface="Cascadia Code"/>
              </a:defRPr>
            </a:pPr>
            <a:r>
              <a:rPr dirty="0"/>
              <a:t>    </a:t>
            </a:r>
            <a:r>
              <a:rPr dirty="0" err="1"/>
              <a:t>digitalWrite</a:t>
            </a:r>
            <a:r>
              <a:rPr dirty="0"/>
              <a:t>(</a:t>
            </a:r>
            <a:r>
              <a:rPr dirty="0" err="1"/>
              <a:t>ledPin</a:t>
            </a:r>
            <a:r>
              <a:rPr dirty="0"/>
              <a:t>, LOW);    // LED OFF</a:t>
            </a:r>
          </a:p>
          <a:p>
            <a:pPr>
              <a:lnSpc>
                <a:spcPts val="1500"/>
              </a:lnSpc>
              <a:spcAft>
                <a:spcPts val="200"/>
              </a:spcAft>
              <a:defRPr sz="1100">
                <a:solidFill>
                  <a:srgbClr val="BEEBC3"/>
                </a:solidFill>
                <a:latin typeface="Cascadia Code"/>
              </a:defRPr>
            </a:pPr>
            <a:r>
              <a:rPr dirty="0"/>
              <a:t>}</a:t>
            </a:r>
          </a:p>
        </p:txBody>
      </p:sp>
      <p:sp>
        <p:nvSpPr>
          <p:cNvPr id="12" name="TextBox 11"/>
          <p:cNvSpPr txBox="1"/>
          <p:nvPr/>
        </p:nvSpPr>
        <p:spPr>
          <a:xfrm>
            <a:off x="457200" y="5257800"/>
            <a:ext cx="5486400" cy="274320"/>
          </a:xfrm>
          <a:prstGeom prst="rect">
            <a:avLst/>
          </a:prstGeom>
          <a:noFill/>
        </p:spPr>
        <p:txBody>
          <a:bodyPr wrap="square">
            <a:spAutoFit/>
          </a:bodyPr>
          <a:lstStyle/>
          <a:p>
            <a:pPr algn="ctr">
              <a:defRPr sz="1100" b="0" i="1">
                <a:solidFill>
                  <a:srgbClr val="788291"/>
                </a:solidFill>
                <a:latin typeface="Segoe UI Light"/>
              </a:defRPr>
            </a:pPr>
            <a:r>
              <a:t>Source Code — Push Button &amp; IR Sensor Control</a:t>
            </a:r>
          </a:p>
        </p:txBody>
      </p:sp>
      <p:sp>
        <p:nvSpPr>
          <p:cNvPr id="13" name="TextBox 12"/>
          <p:cNvSpPr txBox="1"/>
          <p:nvPr/>
        </p:nvSpPr>
        <p:spPr>
          <a:xfrm>
            <a:off x="6400800" y="1051560"/>
            <a:ext cx="5303520" cy="1882503"/>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Observations: </a:t>
            </a:r>
            <a:r>
              <a:rPr sz="1400" dirty="0">
                <a:solidFill>
                  <a:srgbClr val="232832"/>
                </a:solidFill>
                <a:latin typeface="Amasis MT Pro" panose="02040504050005020304" pitchFamily="18" charset="0"/>
              </a:rPr>
              <a:t>When the push button is pressed or the IR sensor detects an object (HIGH signal), the LED on Pin 13 turns ON instantly. When released or no object detected, it turns OFF.</a:t>
            </a:r>
          </a:p>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Result: </a:t>
            </a:r>
            <a:r>
              <a:rPr sz="1400" dirty="0">
                <a:solidFill>
                  <a:srgbClr val="232832"/>
                </a:solidFill>
                <a:latin typeface="Amasis MT Pro" panose="02040504050005020304" pitchFamily="18" charset="0"/>
              </a:rPr>
              <a:t>Successfully demonstrated digital input/output interfacing with ESP32. Both push button and IR sensor behave identically since both produce digital HIGH/LOW signals.</a:t>
            </a:r>
          </a:p>
        </p:txBody>
      </p:sp>
      <p:sp>
        <p:nvSpPr>
          <p:cNvPr id="14" name="Rounded Rectangle 13"/>
          <p:cNvSpPr/>
          <p:nvPr/>
        </p:nvSpPr>
        <p:spPr>
          <a:xfrm>
            <a:off x="6583680" y="3390900"/>
            <a:ext cx="5303520" cy="23241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58000" y="3520441"/>
            <a:ext cx="4754880" cy="320040"/>
          </a:xfrm>
          <a:prstGeom prst="rect">
            <a:avLst/>
          </a:prstGeom>
          <a:noFill/>
        </p:spPr>
        <p:txBody>
          <a:bodyPr wrap="square">
            <a:spAutoFit/>
          </a:bodyPr>
          <a:lstStyle/>
          <a:p>
            <a:pPr algn="l">
              <a:defRPr sz="1600" b="1" i="0">
                <a:solidFill>
                  <a:srgbClr val="0F284B"/>
                </a:solidFill>
                <a:latin typeface="Segoe UI Semibold"/>
              </a:defRPr>
            </a:pPr>
            <a:r>
              <a:t>Applications</a:t>
            </a:r>
          </a:p>
        </p:txBody>
      </p:sp>
      <p:sp>
        <p:nvSpPr>
          <p:cNvPr id="17" name="TextBox 16"/>
          <p:cNvSpPr txBox="1"/>
          <p:nvPr/>
        </p:nvSpPr>
        <p:spPr>
          <a:xfrm>
            <a:off x="6858000" y="3886201"/>
            <a:ext cx="4754880" cy="1737360"/>
          </a:xfrm>
          <a:prstGeom prst="rect">
            <a:avLst/>
          </a:prstGeom>
          <a:noFill/>
        </p:spPr>
        <p:txBody>
          <a:bodyPr wrap="square">
            <a:spAutoFit/>
          </a:bodyPr>
          <a:lstStyle/>
          <a:p>
            <a:pPr>
              <a:lnSpc>
                <a:spcPts val="1800"/>
              </a:lnSpc>
              <a:spcAft>
                <a:spcPts val="600"/>
              </a:spcAft>
            </a:pPr>
            <a:r>
              <a:rPr sz="1300" dirty="0">
                <a:solidFill>
                  <a:srgbClr val="46505F"/>
                </a:solidFill>
                <a:latin typeface="Segoe UI"/>
              </a:rPr>
              <a:t>✦  Automatic lighting systems</a:t>
            </a:r>
          </a:p>
          <a:p>
            <a:pPr>
              <a:lnSpc>
                <a:spcPts val="1800"/>
              </a:lnSpc>
              <a:spcAft>
                <a:spcPts val="600"/>
              </a:spcAft>
            </a:pPr>
            <a:r>
              <a:rPr sz="1300" dirty="0">
                <a:solidFill>
                  <a:srgbClr val="46505F"/>
                </a:solidFill>
                <a:latin typeface="Segoe UI"/>
              </a:rPr>
              <a:t>✦  Obstacle detection robots</a:t>
            </a:r>
          </a:p>
          <a:p>
            <a:pPr>
              <a:lnSpc>
                <a:spcPts val="1800"/>
              </a:lnSpc>
              <a:spcAft>
                <a:spcPts val="600"/>
              </a:spcAft>
            </a:pPr>
            <a:r>
              <a:rPr sz="1300" dirty="0">
                <a:solidFill>
                  <a:srgbClr val="46505F"/>
                </a:solidFill>
                <a:latin typeface="Segoe UI"/>
              </a:rPr>
              <a:t>✦  Security &amp; alarm systems</a:t>
            </a:r>
          </a:p>
          <a:p>
            <a:pPr>
              <a:lnSpc>
                <a:spcPts val="1800"/>
              </a:lnSpc>
              <a:spcAft>
                <a:spcPts val="600"/>
              </a:spcAft>
            </a:pPr>
            <a:r>
              <a:rPr sz="1300" dirty="0">
                <a:solidFill>
                  <a:srgbClr val="46505F"/>
                </a:solidFill>
                <a:latin typeface="Segoe UI"/>
              </a:rPr>
              <a:t>✦  Automatic doors &amp; gates</a:t>
            </a:r>
          </a:p>
          <a:p>
            <a:pPr>
              <a:lnSpc>
                <a:spcPts val="1800"/>
              </a:lnSpc>
              <a:spcAft>
                <a:spcPts val="600"/>
              </a:spcAft>
            </a:pPr>
            <a:r>
              <a:rPr sz="1300" dirty="0">
                <a:solidFill>
                  <a:srgbClr val="46505F"/>
                </a:solidFill>
                <a:latin typeface="Segoe UI"/>
              </a:rPr>
              <a:t>✦  Smart home automation projects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523220"/>
          </a:xfrm>
          <a:prstGeom prst="rect">
            <a:avLst/>
          </a:prstGeom>
          <a:noFill/>
        </p:spPr>
        <p:txBody>
          <a:bodyPr wrap="square">
            <a:spAutoFit/>
          </a:bodyPr>
          <a:lstStyle/>
          <a:p>
            <a:pPr algn="l">
              <a:defRPr sz="2800" b="1" i="0">
                <a:solidFill>
                  <a:srgbClr val="FFFFFF"/>
                </a:solidFill>
                <a:latin typeface="Segoe UI Semibold"/>
              </a:defRPr>
            </a:pPr>
            <a:r>
              <a:rPr dirty="0"/>
              <a:t>Experiment 2 </a:t>
            </a:r>
            <a:r>
              <a:rPr lang="en-US" dirty="0"/>
              <a:t>-</a:t>
            </a:r>
            <a:r>
              <a:rPr dirty="0"/>
              <a:t> Interfacing DHT11 Temperature &amp; Humidity Sensor</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7</a:t>
            </a:r>
          </a:p>
        </p:txBody>
      </p:sp>
      <p:sp>
        <p:nvSpPr>
          <p:cNvPr id="9" name="TextBox 8"/>
          <p:cNvSpPr txBox="1"/>
          <p:nvPr/>
        </p:nvSpPr>
        <p:spPr>
          <a:xfrm>
            <a:off x="457200" y="1051560"/>
            <a:ext cx="5402826" cy="4565481"/>
          </a:xfrm>
          <a:prstGeom prst="rect">
            <a:avLst/>
          </a:prstGeom>
          <a:noFill/>
        </p:spPr>
        <p:txBody>
          <a:bodyPr wrap="square">
            <a:spAutoFit/>
          </a:bodyPr>
          <a:lstStyle/>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Objective: </a:t>
            </a:r>
            <a:r>
              <a:rPr sz="1600" dirty="0">
                <a:solidFill>
                  <a:srgbClr val="232832"/>
                </a:solidFill>
                <a:latin typeface="Amasis MT Pro" panose="02040504050005020304" pitchFamily="18" charset="0"/>
              </a:rPr>
              <a:t>Interface a DHT11 sensor with ESP32 to read real-time temperature (°C) and humidity (%) values and display them on the Serial Monitor.</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Working Principle: </a:t>
            </a:r>
            <a:r>
              <a:rPr sz="1600" dirty="0">
                <a:solidFill>
                  <a:srgbClr val="232832"/>
                </a:solidFill>
                <a:latin typeface="Amasis MT Pro" panose="02040504050005020304" pitchFamily="18" charset="0"/>
              </a:rPr>
              <a:t>The DHT library simplifies communication. The ESP32 reads data via GPIO 16 using </a:t>
            </a:r>
            <a:r>
              <a:rPr sz="1600" dirty="0" err="1">
                <a:solidFill>
                  <a:srgbClr val="232832"/>
                </a:solidFill>
                <a:latin typeface="Amasis MT Pro" panose="02040504050005020304" pitchFamily="18" charset="0"/>
              </a:rPr>
              <a:t>readTemperature</a:t>
            </a:r>
            <a:r>
              <a:rPr sz="1600" dirty="0">
                <a:solidFill>
                  <a:srgbClr val="232832"/>
                </a:solidFill>
                <a:latin typeface="Amasis MT Pro" panose="02040504050005020304" pitchFamily="18" charset="0"/>
              </a:rPr>
              <a:t>() and </a:t>
            </a:r>
            <a:r>
              <a:rPr sz="1600" dirty="0" err="1">
                <a:solidFill>
                  <a:srgbClr val="232832"/>
                </a:solidFill>
                <a:latin typeface="Amasis MT Pro" panose="02040504050005020304" pitchFamily="18" charset="0"/>
              </a:rPr>
              <a:t>readHumidity</a:t>
            </a:r>
            <a:r>
              <a:rPr sz="1600" dirty="0">
                <a:solidFill>
                  <a:srgbClr val="232832"/>
                </a:solidFill>
                <a:latin typeface="Amasis MT Pro" panose="02040504050005020304" pitchFamily="18" charset="0"/>
              </a:rPr>
              <a:t>(). Invalid readings are caught with </a:t>
            </a:r>
            <a:r>
              <a:rPr sz="1600" dirty="0" err="1">
                <a:solidFill>
                  <a:srgbClr val="232832"/>
                </a:solidFill>
                <a:latin typeface="Amasis MT Pro" panose="02040504050005020304" pitchFamily="18" charset="0"/>
              </a:rPr>
              <a:t>isnan</a:t>
            </a:r>
            <a:r>
              <a:rPr sz="1600" dirty="0">
                <a:solidFill>
                  <a:srgbClr val="232832"/>
                </a:solidFill>
                <a:latin typeface="Amasis MT Pro" panose="02040504050005020304" pitchFamily="18" charset="0"/>
              </a:rPr>
              <a:t>(). Serial communication at 115200 baud transmits data to the computer via USB.</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Components: </a:t>
            </a:r>
            <a:r>
              <a:rPr sz="1600" dirty="0">
                <a:solidFill>
                  <a:srgbClr val="232832"/>
                </a:solidFill>
                <a:latin typeface="Amasis MT Pro" panose="02040504050005020304" pitchFamily="18" charset="0"/>
              </a:rPr>
              <a:t>ESP32 </a:t>
            </a:r>
            <a:r>
              <a:rPr sz="1600" dirty="0" err="1">
                <a:solidFill>
                  <a:srgbClr val="232832"/>
                </a:solidFill>
                <a:latin typeface="Amasis MT Pro" panose="02040504050005020304" pitchFamily="18" charset="0"/>
              </a:rPr>
              <a:t>DevKit</a:t>
            </a:r>
            <a:r>
              <a:rPr sz="1600" dirty="0">
                <a:solidFill>
                  <a:srgbClr val="232832"/>
                </a:solidFill>
                <a:latin typeface="Amasis MT Pro" panose="02040504050005020304" pitchFamily="18" charset="0"/>
              </a:rPr>
              <a:t>, DHT11 Temperature &amp; Humidity Sensor, 10 </a:t>
            </a:r>
            <a:r>
              <a:rPr sz="1600" dirty="0" err="1">
                <a:solidFill>
                  <a:srgbClr val="232832"/>
                </a:solidFill>
                <a:latin typeface="Amasis MT Pro" panose="02040504050005020304" pitchFamily="18" charset="0"/>
              </a:rPr>
              <a:t>kΩ</a:t>
            </a:r>
            <a:r>
              <a:rPr sz="1600" dirty="0">
                <a:solidFill>
                  <a:srgbClr val="232832"/>
                </a:solidFill>
                <a:latin typeface="Amasis MT Pro" panose="02040504050005020304" pitchFamily="18" charset="0"/>
              </a:rPr>
              <a:t> Pull-up Resistor (bare sensor only), Jumper Wires.</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Connections: </a:t>
            </a:r>
            <a:br>
              <a:rPr lang="en-US" sz="1600" b="1" dirty="0">
                <a:solidFill>
                  <a:srgbClr val="0F284B"/>
                </a:solidFill>
                <a:latin typeface="Amasis MT Pro" panose="02040504050005020304" pitchFamily="18" charset="0"/>
              </a:rPr>
            </a:br>
            <a:r>
              <a:rPr sz="1600" u="sng" dirty="0">
                <a:solidFill>
                  <a:srgbClr val="232832"/>
                </a:solidFill>
                <a:latin typeface="Amasis MT Pro" panose="02040504050005020304" pitchFamily="18" charset="0"/>
              </a:rPr>
              <a:t>DHT11</a:t>
            </a:r>
            <a:r>
              <a:rPr sz="1600" dirty="0">
                <a:solidFill>
                  <a:srgbClr val="232832"/>
                </a:solidFill>
                <a:latin typeface="Amasis MT Pro" panose="02040504050005020304" pitchFamily="18" charset="0"/>
              </a:rPr>
              <a:t> </a:t>
            </a:r>
            <a:br>
              <a:rPr lang="en-US" sz="1600" dirty="0">
                <a:solidFill>
                  <a:srgbClr val="232832"/>
                </a:solidFill>
                <a:latin typeface="Amasis MT Pro" panose="02040504050005020304" pitchFamily="18" charset="0"/>
              </a:rPr>
            </a:br>
            <a:r>
              <a:rPr sz="1600" dirty="0">
                <a:solidFill>
                  <a:srgbClr val="232832"/>
                </a:solidFill>
                <a:latin typeface="Amasis MT Pro" panose="02040504050005020304" pitchFamily="18" charset="0"/>
              </a:rPr>
              <a:t>VCC → 3.3V, </a:t>
            </a:r>
            <a:br>
              <a:rPr lang="en-US" sz="1600" dirty="0">
                <a:solidFill>
                  <a:srgbClr val="232832"/>
                </a:solidFill>
                <a:latin typeface="Amasis MT Pro" panose="02040504050005020304" pitchFamily="18" charset="0"/>
              </a:rPr>
            </a:br>
            <a:r>
              <a:rPr sz="1600" dirty="0">
                <a:solidFill>
                  <a:srgbClr val="232832"/>
                </a:solidFill>
                <a:latin typeface="Amasis MT Pro" panose="02040504050005020304" pitchFamily="18" charset="0"/>
              </a:rPr>
              <a:t>GND → GND, </a:t>
            </a:r>
            <a:br>
              <a:rPr lang="en-US" sz="1600" dirty="0">
                <a:solidFill>
                  <a:srgbClr val="232832"/>
                </a:solidFill>
                <a:latin typeface="Amasis MT Pro" panose="02040504050005020304" pitchFamily="18" charset="0"/>
              </a:rPr>
            </a:br>
            <a:r>
              <a:rPr sz="1600" dirty="0">
                <a:solidFill>
                  <a:srgbClr val="232832"/>
                </a:solidFill>
                <a:latin typeface="Amasis MT Pro" panose="02040504050005020304" pitchFamily="18" charset="0"/>
              </a:rPr>
              <a:t>DATA → GPIO 16.</a:t>
            </a:r>
          </a:p>
        </p:txBody>
      </p:sp>
      <p:sp>
        <p:nvSpPr>
          <p:cNvPr id="10" name="Rounded Rectangle 9"/>
          <p:cNvSpPr/>
          <p:nvPr/>
        </p:nvSpPr>
        <p:spPr>
          <a:xfrm>
            <a:off x="6528816" y="996696"/>
            <a:ext cx="5230368" cy="1904223"/>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lock_exp2.png"/>
          <p:cNvPicPr>
            <a:picLocks noChangeAspect="1"/>
          </p:cNvPicPr>
          <p:nvPr/>
        </p:nvPicPr>
        <p:blipFill>
          <a:blip r:embed="rId2"/>
          <a:stretch>
            <a:fillRect/>
          </a:stretch>
        </p:blipFill>
        <p:spPr>
          <a:xfrm>
            <a:off x="6583680" y="1051560"/>
            <a:ext cx="5120640" cy="1794495"/>
          </a:xfrm>
          <a:prstGeom prst="rect">
            <a:avLst/>
          </a:prstGeom>
        </p:spPr>
      </p:pic>
      <p:sp>
        <p:nvSpPr>
          <p:cNvPr id="12" name="TextBox 11"/>
          <p:cNvSpPr txBox="1"/>
          <p:nvPr/>
        </p:nvSpPr>
        <p:spPr>
          <a:xfrm>
            <a:off x="6583680" y="2919207"/>
            <a:ext cx="5120640" cy="320040"/>
          </a:xfrm>
          <a:prstGeom prst="rect">
            <a:avLst/>
          </a:prstGeom>
          <a:noFill/>
        </p:spPr>
        <p:txBody>
          <a:bodyPr wrap="square">
            <a:spAutoFit/>
          </a:bodyPr>
          <a:lstStyle/>
          <a:p>
            <a:pPr algn="ctr">
              <a:defRPr sz="1100" b="0" i="1">
                <a:solidFill>
                  <a:srgbClr val="788291"/>
                </a:solidFill>
                <a:latin typeface="Segoe UI Light"/>
              </a:defRPr>
            </a:pPr>
            <a:r>
              <a:t>Fig 2.1 — Block Diagram: DHT11 → ESP32 → Serial Monitor</a:t>
            </a:r>
          </a:p>
        </p:txBody>
      </p:sp>
      <p:sp>
        <p:nvSpPr>
          <p:cNvPr id="13" name="Rounded Rectangle 12"/>
          <p:cNvSpPr/>
          <p:nvPr/>
        </p:nvSpPr>
        <p:spPr>
          <a:xfrm>
            <a:off x="7486353" y="3277603"/>
            <a:ext cx="3409630" cy="2670048"/>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xp2a.jpeg"/>
          <p:cNvPicPr>
            <a:picLocks noChangeAspect="1"/>
          </p:cNvPicPr>
          <p:nvPr/>
        </p:nvPicPr>
        <p:blipFill>
          <a:blip r:embed="rId3"/>
          <a:srcRect t="40983" r="50880"/>
          <a:stretch>
            <a:fillRect/>
          </a:stretch>
        </p:blipFill>
        <p:spPr>
          <a:xfrm>
            <a:off x="7612051" y="3394695"/>
            <a:ext cx="3141757" cy="2448914"/>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p:cNvSpPr txBox="1"/>
          <p:nvPr/>
        </p:nvSpPr>
        <p:spPr>
          <a:xfrm>
            <a:off x="7283736" y="5966726"/>
            <a:ext cx="3946543" cy="320040"/>
          </a:xfrm>
          <a:prstGeom prst="rect">
            <a:avLst/>
          </a:prstGeom>
          <a:noFill/>
        </p:spPr>
        <p:txBody>
          <a:bodyPr wrap="square">
            <a:spAutoFit/>
          </a:bodyPr>
          <a:lstStyle/>
          <a:p>
            <a:pPr algn="ctr">
              <a:defRPr sz="1100" b="0" i="1">
                <a:solidFill>
                  <a:srgbClr val="788291"/>
                </a:solidFill>
                <a:latin typeface="Segoe UI Light"/>
              </a:defRPr>
            </a:pPr>
            <a:r>
              <a:rPr dirty="0"/>
              <a:t>Fig 2.2 — Arduino IDE: Code &amp; Serial Monitor Output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2 — Code, Output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8</a:t>
            </a:r>
          </a:p>
        </p:txBody>
      </p:sp>
      <p:sp>
        <p:nvSpPr>
          <p:cNvPr id="9" name="Rounded Rectangle 8"/>
          <p:cNvSpPr/>
          <p:nvPr/>
        </p:nvSpPr>
        <p:spPr>
          <a:xfrm>
            <a:off x="447366" y="1061325"/>
            <a:ext cx="5496233" cy="5421083"/>
          </a:xfrm>
          <a:custGeom>
            <a:avLst/>
            <a:gdLst>
              <a:gd name="csX0" fmla="*/ 0 w 5486400"/>
              <a:gd name="csY0" fmla="*/ 906798 h 5440680"/>
              <a:gd name="csX1" fmla="*/ 906798 w 5486400"/>
              <a:gd name="csY1" fmla="*/ 0 h 5440680"/>
              <a:gd name="csX2" fmla="*/ 4579602 w 5486400"/>
              <a:gd name="csY2" fmla="*/ 0 h 5440680"/>
              <a:gd name="csX3" fmla="*/ 5486400 w 5486400"/>
              <a:gd name="csY3" fmla="*/ 906798 h 5440680"/>
              <a:gd name="csX4" fmla="*/ 5486400 w 5486400"/>
              <a:gd name="csY4" fmla="*/ 4533882 h 5440680"/>
              <a:gd name="csX5" fmla="*/ 4579602 w 5486400"/>
              <a:gd name="csY5" fmla="*/ 5440680 h 5440680"/>
              <a:gd name="csX6" fmla="*/ 906798 w 5486400"/>
              <a:gd name="csY6" fmla="*/ 5440680 h 5440680"/>
              <a:gd name="csX7" fmla="*/ 0 w 5486400"/>
              <a:gd name="csY7" fmla="*/ 4533882 h 5440680"/>
              <a:gd name="csX8" fmla="*/ 0 w 5486400"/>
              <a:gd name="csY8" fmla="*/ 906798 h 5440680"/>
              <a:gd name="csX0" fmla="*/ 9832 w 5486400"/>
              <a:gd name="csY0" fmla="*/ 493848 h 5440685"/>
              <a:gd name="csX1" fmla="*/ 906798 w 5486400"/>
              <a:gd name="csY1" fmla="*/ 5 h 5440685"/>
              <a:gd name="csX2" fmla="*/ 4579602 w 5486400"/>
              <a:gd name="csY2" fmla="*/ 5 h 5440685"/>
              <a:gd name="csX3" fmla="*/ 5486400 w 5486400"/>
              <a:gd name="csY3" fmla="*/ 906803 h 5440685"/>
              <a:gd name="csX4" fmla="*/ 5486400 w 5486400"/>
              <a:gd name="csY4" fmla="*/ 4533887 h 5440685"/>
              <a:gd name="csX5" fmla="*/ 4579602 w 5486400"/>
              <a:gd name="csY5" fmla="*/ 5440685 h 5440685"/>
              <a:gd name="csX6" fmla="*/ 906798 w 5486400"/>
              <a:gd name="csY6" fmla="*/ 5440685 h 5440685"/>
              <a:gd name="csX7" fmla="*/ 0 w 5486400"/>
              <a:gd name="csY7" fmla="*/ 4533887 h 5440685"/>
              <a:gd name="csX8" fmla="*/ 9832 w 5486400"/>
              <a:gd name="csY8" fmla="*/ 493848 h 5440685"/>
              <a:gd name="csX0" fmla="*/ 9832 w 5486400"/>
              <a:gd name="csY0" fmla="*/ 493843 h 5440680"/>
              <a:gd name="csX1" fmla="*/ 651159 w 5486400"/>
              <a:gd name="csY1" fmla="*/ 9832 h 5440680"/>
              <a:gd name="csX2" fmla="*/ 4579602 w 5486400"/>
              <a:gd name="csY2" fmla="*/ 0 h 5440680"/>
              <a:gd name="csX3" fmla="*/ 5486400 w 5486400"/>
              <a:gd name="csY3" fmla="*/ 906798 h 5440680"/>
              <a:gd name="csX4" fmla="*/ 5486400 w 5486400"/>
              <a:gd name="csY4" fmla="*/ 4533882 h 5440680"/>
              <a:gd name="csX5" fmla="*/ 4579602 w 5486400"/>
              <a:gd name="csY5" fmla="*/ 5440680 h 5440680"/>
              <a:gd name="csX6" fmla="*/ 906798 w 5486400"/>
              <a:gd name="csY6" fmla="*/ 5440680 h 5440680"/>
              <a:gd name="csX7" fmla="*/ 0 w 5486400"/>
              <a:gd name="csY7" fmla="*/ 4533882 h 5440680"/>
              <a:gd name="csX8" fmla="*/ 9832 w 5486400"/>
              <a:gd name="csY8" fmla="*/ 493843 h 5440680"/>
              <a:gd name="csX0" fmla="*/ 19665 w 5496233"/>
              <a:gd name="csY0" fmla="*/ 493843 h 5440680"/>
              <a:gd name="csX1" fmla="*/ 660992 w 5496233"/>
              <a:gd name="csY1" fmla="*/ 9832 h 5440680"/>
              <a:gd name="csX2" fmla="*/ 4589435 w 5496233"/>
              <a:gd name="csY2" fmla="*/ 0 h 5440680"/>
              <a:gd name="csX3" fmla="*/ 5496233 w 5496233"/>
              <a:gd name="csY3" fmla="*/ 906798 h 5440680"/>
              <a:gd name="csX4" fmla="*/ 5496233 w 5496233"/>
              <a:gd name="csY4" fmla="*/ 4533882 h 5440680"/>
              <a:gd name="csX5" fmla="*/ 4589435 w 5496233"/>
              <a:gd name="csY5" fmla="*/ 5440680 h 5440680"/>
              <a:gd name="csX6" fmla="*/ 916631 w 5496233"/>
              <a:gd name="csY6" fmla="*/ 5440680 h 5440680"/>
              <a:gd name="csX7" fmla="*/ 0 w 5496233"/>
              <a:gd name="csY7" fmla="*/ 4799353 h 5440680"/>
              <a:gd name="csX8" fmla="*/ 19665 w 5496233"/>
              <a:gd name="csY8" fmla="*/ 493843 h 5440680"/>
              <a:gd name="csX0" fmla="*/ 19665 w 5496233"/>
              <a:gd name="csY0" fmla="*/ 493843 h 5440680"/>
              <a:gd name="csX1" fmla="*/ 660992 w 5496233"/>
              <a:gd name="csY1" fmla="*/ 9832 h 5440680"/>
              <a:gd name="csX2" fmla="*/ 4589435 w 5496233"/>
              <a:gd name="csY2" fmla="*/ 0 h 5440680"/>
              <a:gd name="csX3" fmla="*/ 5496233 w 5496233"/>
              <a:gd name="csY3" fmla="*/ 906798 h 5440680"/>
              <a:gd name="csX4" fmla="*/ 5496233 w 5496233"/>
              <a:gd name="csY4" fmla="*/ 4533882 h 5440680"/>
              <a:gd name="csX5" fmla="*/ 4589435 w 5496233"/>
              <a:gd name="csY5" fmla="*/ 5440680 h 5440680"/>
              <a:gd name="csX6" fmla="*/ 572502 w 5496233"/>
              <a:gd name="csY6" fmla="*/ 5430848 h 5440680"/>
              <a:gd name="csX7" fmla="*/ 0 w 5496233"/>
              <a:gd name="csY7" fmla="*/ 4799353 h 5440680"/>
              <a:gd name="csX8" fmla="*/ 19665 w 5496233"/>
              <a:gd name="csY8" fmla="*/ 493843 h 5440680"/>
              <a:gd name="csX0" fmla="*/ 19665 w 5496233"/>
              <a:gd name="csY0" fmla="*/ 484078 h 5430915"/>
              <a:gd name="csX1" fmla="*/ 660992 w 5496233"/>
              <a:gd name="csY1" fmla="*/ 67 h 5430915"/>
              <a:gd name="csX2" fmla="*/ 4933564 w 5496233"/>
              <a:gd name="csY2" fmla="*/ 67 h 5430915"/>
              <a:gd name="csX3" fmla="*/ 5496233 w 5496233"/>
              <a:gd name="csY3" fmla="*/ 897033 h 5430915"/>
              <a:gd name="csX4" fmla="*/ 5496233 w 5496233"/>
              <a:gd name="csY4" fmla="*/ 4524117 h 5430915"/>
              <a:gd name="csX5" fmla="*/ 4589435 w 5496233"/>
              <a:gd name="csY5" fmla="*/ 5430915 h 5430915"/>
              <a:gd name="csX6" fmla="*/ 572502 w 5496233"/>
              <a:gd name="csY6" fmla="*/ 5421083 h 5430915"/>
              <a:gd name="csX7" fmla="*/ 0 w 5496233"/>
              <a:gd name="csY7" fmla="*/ 4789588 h 5430915"/>
              <a:gd name="csX8" fmla="*/ 19665 w 5496233"/>
              <a:gd name="csY8" fmla="*/ 484078 h 5430915"/>
              <a:gd name="csX0" fmla="*/ 19665 w 5496233"/>
              <a:gd name="csY0" fmla="*/ 484078 h 5430915"/>
              <a:gd name="csX1" fmla="*/ 660992 w 5496233"/>
              <a:gd name="csY1" fmla="*/ 67 h 5430915"/>
              <a:gd name="csX2" fmla="*/ 4933564 w 5496233"/>
              <a:gd name="csY2" fmla="*/ 67 h 5430915"/>
              <a:gd name="csX3" fmla="*/ 5496233 w 5496233"/>
              <a:gd name="csY3" fmla="*/ 897033 h 5430915"/>
              <a:gd name="csX4" fmla="*/ 5496233 w 5496233"/>
              <a:gd name="csY4" fmla="*/ 4907575 h 5430915"/>
              <a:gd name="csX5" fmla="*/ 4589435 w 5496233"/>
              <a:gd name="csY5" fmla="*/ 5430915 h 5430915"/>
              <a:gd name="csX6" fmla="*/ 572502 w 5496233"/>
              <a:gd name="csY6" fmla="*/ 5421083 h 5430915"/>
              <a:gd name="csX7" fmla="*/ 0 w 5496233"/>
              <a:gd name="csY7" fmla="*/ 4789588 h 5430915"/>
              <a:gd name="csX8" fmla="*/ 19665 w 5496233"/>
              <a:gd name="csY8" fmla="*/ 484078 h 5430915"/>
              <a:gd name="csX0" fmla="*/ 19665 w 5496233"/>
              <a:gd name="csY0" fmla="*/ 484078 h 5421083"/>
              <a:gd name="csX1" fmla="*/ 660992 w 5496233"/>
              <a:gd name="csY1" fmla="*/ 67 h 5421083"/>
              <a:gd name="csX2" fmla="*/ 4933564 w 5496233"/>
              <a:gd name="csY2" fmla="*/ 67 h 5421083"/>
              <a:gd name="csX3" fmla="*/ 5496233 w 5496233"/>
              <a:gd name="csY3" fmla="*/ 897033 h 5421083"/>
              <a:gd name="csX4" fmla="*/ 5496233 w 5496233"/>
              <a:gd name="csY4" fmla="*/ 4907575 h 5421083"/>
              <a:gd name="csX5" fmla="*/ 4786080 w 5496233"/>
              <a:gd name="csY5" fmla="*/ 5411251 h 5421083"/>
              <a:gd name="csX6" fmla="*/ 572502 w 5496233"/>
              <a:gd name="csY6" fmla="*/ 5421083 h 5421083"/>
              <a:gd name="csX7" fmla="*/ 0 w 5496233"/>
              <a:gd name="csY7" fmla="*/ 4789588 h 5421083"/>
              <a:gd name="csX8" fmla="*/ 19665 w 5496233"/>
              <a:gd name="csY8" fmla="*/ 484078 h 5421083"/>
              <a:gd name="csX0" fmla="*/ 19665 w 5496233"/>
              <a:gd name="csY0" fmla="*/ 484078 h 5421083"/>
              <a:gd name="csX1" fmla="*/ 660992 w 5496233"/>
              <a:gd name="csY1" fmla="*/ 67 h 5421083"/>
              <a:gd name="csX2" fmla="*/ 4933564 w 5496233"/>
              <a:gd name="csY2" fmla="*/ 67 h 5421083"/>
              <a:gd name="csX3" fmla="*/ 5496233 w 5496233"/>
              <a:gd name="csY3" fmla="*/ 690556 h 5421083"/>
              <a:gd name="csX4" fmla="*/ 5496233 w 5496233"/>
              <a:gd name="csY4" fmla="*/ 4907575 h 5421083"/>
              <a:gd name="csX5" fmla="*/ 4786080 w 5496233"/>
              <a:gd name="csY5" fmla="*/ 5411251 h 5421083"/>
              <a:gd name="csX6" fmla="*/ 572502 w 5496233"/>
              <a:gd name="csY6" fmla="*/ 5421083 h 5421083"/>
              <a:gd name="csX7" fmla="*/ 0 w 5496233"/>
              <a:gd name="csY7" fmla="*/ 4789588 h 5421083"/>
              <a:gd name="csX8" fmla="*/ 19665 w 5496233"/>
              <a:gd name="csY8" fmla="*/ 484078 h 542108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5496233" h="5421083">
                <a:moveTo>
                  <a:pt x="19665" y="484078"/>
                </a:moveTo>
                <a:cubicBezTo>
                  <a:pt x="19665" y="-16733"/>
                  <a:pt x="160181" y="67"/>
                  <a:pt x="660992" y="67"/>
                </a:cubicBezTo>
                <a:lnTo>
                  <a:pt x="4933564" y="67"/>
                </a:lnTo>
                <a:cubicBezTo>
                  <a:pt x="5434375" y="67"/>
                  <a:pt x="5496233" y="189745"/>
                  <a:pt x="5496233" y="690556"/>
                </a:cubicBezTo>
                <a:lnTo>
                  <a:pt x="5496233" y="4907575"/>
                </a:lnTo>
                <a:cubicBezTo>
                  <a:pt x="5496233" y="5408386"/>
                  <a:pt x="5286891" y="5411251"/>
                  <a:pt x="4786080" y="5411251"/>
                </a:cubicBezTo>
                <a:lnTo>
                  <a:pt x="572502" y="5421083"/>
                </a:lnTo>
                <a:cubicBezTo>
                  <a:pt x="71691" y="5421083"/>
                  <a:pt x="0" y="5290399"/>
                  <a:pt x="0" y="4789588"/>
                </a:cubicBezTo>
                <a:cubicBezTo>
                  <a:pt x="0" y="3580560"/>
                  <a:pt x="19665" y="1693106"/>
                  <a:pt x="19665" y="484078"/>
                </a:cubicBezTo>
                <a:close/>
              </a:path>
            </a:pathLst>
          </a:cu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5120640" cy="5284908"/>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rPr dirty="0"/>
              <a:t>#include &lt;</a:t>
            </a:r>
            <a:r>
              <a:rPr dirty="0" err="1"/>
              <a:t>DHT.h</a:t>
            </a:r>
            <a:r>
              <a:rPr dirty="0"/>
              <a:t>&gt;</a:t>
            </a:r>
          </a:p>
          <a:p>
            <a:pPr>
              <a:lnSpc>
                <a:spcPts val="1500"/>
              </a:lnSpc>
              <a:spcAft>
                <a:spcPts val="200"/>
              </a:spcAft>
              <a:defRPr sz="1100">
                <a:solidFill>
                  <a:srgbClr val="BEEBC3"/>
                </a:solidFill>
                <a:latin typeface="Cascadia Code"/>
              </a:defRPr>
            </a:pPr>
            <a:r>
              <a:rPr dirty="0"/>
              <a:t>#define DHTPIN 16</a:t>
            </a:r>
          </a:p>
          <a:p>
            <a:pPr>
              <a:lnSpc>
                <a:spcPts val="1500"/>
              </a:lnSpc>
              <a:spcAft>
                <a:spcPts val="200"/>
              </a:spcAft>
              <a:defRPr sz="1100">
                <a:solidFill>
                  <a:srgbClr val="BEEBC3"/>
                </a:solidFill>
                <a:latin typeface="Cascadia Code"/>
              </a:defRPr>
            </a:pPr>
            <a:r>
              <a:rPr dirty="0"/>
              <a:t>#define DHTTYPE DHT11</a:t>
            </a:r>
          </a:p>
          <a:p>
            <a:pPr>
              <a:lnSpc>
                <a:spcPts val="1500"/>
              </a:lnSpc>
              <a:spcAft>
                <a:spcPts val="200"/>
              </a:spcAft>
              <a:defRPr sz="1100">
                <a:solidFill>
                  <a:srgbClr val="BEEBC3"/>
                </a:solidFill>
                <a:latin typeface="Cascadia Code"/>
              </a:defRPr>
            </a:pPr>
            <a:r>
              <a:rPr dirty="0"/>
              <a:t>DHT </a:t>
            </a:r>
            <a:r>
              <a:rPr dirty="0" err="1"/>
              <a:t>dht</a:t>
            </a:r>
            <a:r>
              <a:rPr dirty="0"/>
              <a:t>(DHTPIN, DHTTYPE);</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setup() {</a:t>
            </a:r>
          </a:p>
          <a:p>
            <a:pPr>
              <a:lnSpc>
                <a:spcPts val="1500"/>
              </a:lnSpc>
              <a:spcAft>
                <a:spcPts val="200"/>
              </a:spcAft>
              <a:defRPr sz="1100">
                <a:solidFill>
                  <a:srgbClr val="BEEBC3"/>
                </a:solidFill>
                <a:latin typeface="Cascadia Code"/>
              </a:defRPr>
            </a:pPr>
            <a:r>
              <a:rPr dirty="0"/>
              <a:t>  </a:t>
            </a:r>
            <a:r>
              <a:rPr dirty="0" err="1"/>
              <a:t>Serial.begin</a:t>
            </a:r>
            <a:r>
              <a:rPr dirty="0"/>
              <a:t>(115200);</a:t>
            </a:r>
          </a:p>
          <a:p>
            <a:pPr>
              <a:lnSpc>
                <a:spcPts val="1500"/>
              </a:lnSpc>
              <a:spcAft>
                <a:spcPts val="200"/>
              </a:spcAft>
              <a:defRPr sz="1100">
                <a:solidFill>
                  <a:srgbClr val="BEEBC3"/>
                </a:solidFill>
                <a:latin typeface="Cascadia Code"/>
              </a:defRPr>
            </a:pPr>
            <a:r>
              <a:rPr dirty="0"/>
              <a:t>  </a:t>
            </a:r>
            <a:r>
              <a:rPr dirty="0" err="1"/>
              <a:t>dht.begin</a:t>
            </a:r>
            <a:r>
              <a:rPr dirty="0"/>
              <a:t>();</a:t>
            </a:r>
          </a:p>
          <a:p>
            <a:pPr>
              <a:lnSpc>
                <a:spcPts val="1500"/>
              </a:lnSpc>
              <a:spcAft>
                <a:spcPts val="200"/>
              </a:spcAft>
              <a:defRPr sz="1100">
                <a:solidFill>
                  <a:srgbClr val="BEEBC3"/>
                </a:solidFill>
                <a:latin typeface="Cascadia Code"/>
              </a:defRPr>
            </a:pPr>
            <a:r>
              <a:rPr dirty="0"/>
              <a:t>}</a:t>
            </a:r>
          </a:p>
          <a:p>
            <a:pPr>
              <a:lnSpc>
                <a:spcPts val="1500"/>
              </a:lnSpc>
              <a:spcAft>
                <a:spcPts val="200"/>
              </a:spcAft>
              <a:defRPr sz="1100">
                <a:solidFill>
                  <a:srgbClr val="BEEBC3"/>
                </a:solidFill>
                <a:latin typeface="Cascadia Code"/>
              </a:defRPr>
            </a:pPr>
            <a:r>
              <a:rPr dirty="0"/>
              <a:t>void loop() {</a:t>
            </a:r>
          </a:p>
          <a:p>
            <a:pPr>
              <a:lnSpc>
                <a:spcPts val="1500"/>
              </a:lnSpc>
              <a:spcAft>
                <a:spcPts val="200"/>
              </a:spcAft>
              <a:defRPr sz="1100">
                <a:solidFill>
                  <a:srgbClr val="BEEBC3"/>
                </a:solidFill>
                <a:latin typeface="Cascadia Code"/>
              </a:defRPr>
            </a:pPr>
            <a:r>
              <a:rPr dirty="0"/>
              <a:t>  float humidity = </a:t>
            </a:r>
            <a:r>
              <a:rPr dirty="0" err="1"/>
              <a:t>dht.readHumidity</a:t>
            </a:r>
            <a:r>
              <a:rPr dirty="0"/>
              <a:t>();</a:t>
            </a:r>
          </a:p>
          <a:p>
            <a:pPr>
              <a:lnSpc>
                <a:spcPts val="1500"/>
              </a:lnSpc>
              <a:spcAft>
                <a:spcPts val="200"/>
              </a:spcAft>
              <a:defRPr sz="1100">
                <a:solidFill>
                  <a:srgbClr val="BEEBC3"/>
                </a:solidFill>
                <a:latin typeface="Cascadia Code"/>
              </a:defRPr>
            </a:pPr>
            <a:r>
              <a:rPr dirty="0"/>
              <a:t>  float temperature = </a:t>
            </a:r>
            <a:r>
              <a:rPr dirty="0" err="1"/>
              <a:t>dht.readTemperature</a:t>
            </a:r>
            <a:r>
              <a:rPr dirty="0"/>
              <a:t>();</a:t>
            </a:r>
          </a:p>
          <a:p>
            <a:pPr>
              <a:lnSpc>
                <a:spcPts val="1500"/>
              </a:lnSpc>
              <a:spcAft>
                <a:spcPts val="200"/>
              </a:spcAft>
              <a:defRPr sz="1100">
                <a:solidFill>
                  <a:srgbClr val="BEEBC3"/>
                </a:solidFill>
                <a:latin typeface="Cascadia Code"/>
              </a:defRPr>
            </a:pPr>
            <a:r>
              <a:rPr dirty="0"/>
              <a:t>  if (</a:t>
            </a:r>
            <a:r>
              <a:rPr dirty="0" err="1"/>
              <a:t>isnan</a:t>
            </a:r>
            <a:r>
              <a:rPr dirty="0"/>
              <a:t>(humidity) || </a:t>
            </a:r>
            <a:r>
              <a:rPr dirty="0" err="1"/>
              <a:t>isnan</a:t>
            </a:r>
            <a:r>
              <a:rPr dirty="0"/>
              <a:t>(temperature)) {</a:t>
            </a:r>
          </a:p>
          <a:p>
            <a:pPr>
              <a:lnSpc>
                <a:spcPts val="1500"/>
              </a:lnSpc>
              <a:spcAft>
                <a:spcPts val="200"/>
              </a:spcAft>
              <a:defRPr sz="1100">
                <a:solidFill>
                  <a:srgbClr val="BEEBC3"/>
                </a:solidFill>
                <a:latin typeface="Cascadia Code"/>
              </a:defRPr>
            </a:pPr>
            <a:r>
              <a:rPr dirty="0"/>
              <a:t>    </a:t>
            </a:r>
            <a:r>
              <a:rPr dirty="0" err="1"/>
              <a:t>Serial.println</a:t>
            </a:r>
            <a:r>
              <a:rPr dirty="0"/>
              <a:t>("Failed to read DHT11!");</a:t>
            </a:r>
          </a:p>
          <a:p>
            <a:pPr>
              <a:lnSpc>
                <a:spcPts val="1500"/>
              </a:lnSpc>
              <a:spcAft>
                <a:spcPts val="200"/>
              </a:spcAft>
              <a:defRPr sz="1100">
                <a:solidFill>
                  <a:srgbClr val="BEEBC3"/>
                </a:solidFill>
                <a:latin typeface="Cascadia Code"/>
              </a:defRPr>
            </a:pPr>
            <a:r>
              <a:rPr dirty="0"/>
              <a:t>    return;</a:t>
            </a:r>
          </a:p>
          <a:p>
            <a:pPr>
              <a:lnSpc>
                <a:spcPts val="1500"/>
              </a:lnSpc>
              <a:spcAft>
                <a:spcPts val="200"/>
              </a:spcAft>
              <a:defRPr sz="1100">
                <a:solidFill>
                  <a:srgbClr val="BEEBC3"/>
                </a:solidFill>
                <a:latin typeface="Cascadia Code"/>
              </a:defRPr>
            </a:pPr>
            <a:r>
              <a:rPr dirty="0"/>
              <a:t>  }</a:t>
            </a:r>
          </a:p>
          <a:p>
            <a:pPr>
              <a:lnSpc>
                <a:spcPts val="1500"/>
              </a:lnSpc>
              <a:spcAft>
                <a:spcPts val="200"/>
              </a:spcAft>
              <a:defRPr sz="1100">
                <a:solidFill>
                  <a:srgbClr val="BEEBC3"/>
                </a:solidFill>
                <a:latin typeface="Cascadia Code"/>
              </a:defRPr>
            </a:pPr>
            <a:r>
              <a:rPr dirty="0"/>
              <a:t>  </a:t>
            </a:r>
            <a:r>
              <a:rPr dirty="0" err="1"/>
              <a:t>Serial.print</a:t>
            </a:r>
            <a:r>
              <a:rPr dirty="0"/>
              <a:t>("Temperature: ");</a:t>
            </a:r>
          </a:p>
          <a:p>
            <a:pPr>
              <a:lnSpc>
                <a:spcPts val="1500"/>
              </a:lnSpc>
              <a:spcAft>
                <a:spcPts val="200"/>
              </a:spcAft>
              <a:defRPr sz="1100">
                <a:solidFill>
                  <a:srgbClr val="BEEBC3"/>
                </a:solidFill>
                <a:latin typeface="Cascadia Code"/>
              </a:defRPr>
            </a:pPr>
            <a:r>
              <a:rPr dirty="0"/>
              <a:t>  </a:t>
            </a:r>
            <a:r>
              <a:rPr dirty="0" err="1"/>
              <a:t>Serial.print</a:t>
            </a:r>
            <a:r>
              <a:rPr dirty="0"/>
              <a:t>(temperature);</a:t>
            </a:r>
          </a:p>
          <a:p>
            <a:pPr>
              <a:lnSpc>
                <a:spcPts val="1500"/>
              </a:lnSpc>
              <a:spcAft>
                <a:spcPts val="200"/>
              </a:spcAft>
              <a:defRPr sz="1100">
                <a:solidFill>
                  <a:srgbClr val="BEEBC3"/>
                </a:solidFill>
                <a:latin typeface="Cascadia Code"/>
              </a:defRPr>
            </a:pPr>
            <a:r>
              <a:rPr dirty="0"/>
              <a:t>  </a:t>
            </a:r>
            <a:r>
              <a:rPr dirty="0" err="1"/>
              <a:t>Serial.println</a:t>
            </a:r>
            <a:r>
              <a:rPr dirty="0"/>
              <a:t>(" C");</a:t>
            </a:r>
          </a:p>
          <a:p>
            <a:pPr>
              <a:lnSpc>
                <a:spcPts val="1500"/>
              </a:lnSpc>
              <a:spcAft>
                <a:spcPts val="200"/>
              </a:spcAft>
              <a:defRPr sz="1100">
                <a:solidFill>
                  <a:srgbClr val="BEEBC3"/>
                </a:solidFill>
                <a:latin typeface="Cascadia Code"/>
              </a:defRPr>
            </a:pPr>
            <a:r>
              <a:rPr dirty="0"/>
              <a:t>  </a:t>
            </a:r>
            <a:r>
              <a:rPr dirty="0" err="1"/>
              <a:t>Serial.print</a:t>
            </a:r>
            <a:r>
              <a:rPr dirty="0"/>
              <a:t>("Humidity: ");</a:t>
            </a:r>
          </a:p>
          <a:p>
            <a:pPr>
              <a:lnSpc>
                <a:spcPts val="1500"/>
              </a:lnSpc>
              <a:spcAft>
                <a:spcPts val="200"/>
              </a:spcAft>
              <a:defRPr sz="1100">
                <a:solidFill>
                  <a:srgbClr val="BEEBC3"/>
                </a:solidFill>
                <a:latin typeface="Cascadia Code"/>
              </a:defRPr>
            </a:pPr>
            <a:r>
              <a:rPr dirty="0"/>
              <a:t>  </a:t>
            </a:r>
            <a:r>
              <a:rPr dirty="0" err="1"/>
              <a:t>Serial.print</a:t>
            </a:r>
            <a:r>
              <a:rPr dirty="0"/>
              <a:t>(humidity);</a:t>
            </a:r>
          </a:p>
          <a:p>
            <a:pPr>
              <a:lnSpc>
                <a:spcPts val="1500"/>
              </a:lnSpc>
              <a:spcAft>
                <a:spcPts val="200"/>
              </a:spcAft>
              <a:defRPr sz="1100">
                <a:solidFill>
                  <a:srgbClr val="BEEBC3"/>
                </a:solidFill>
                <a:latin typeface="Cascadia Code"/>
              </a:defRPr>
            </a:pPr>
            <a:r>
              <a:rPr dirty="0"/>
              <a:t>  </a:t>
            </a:r>
            <a:r>
              <a:rPr dirty="0" err="1"/>
              <a:t>Serial.println</a:t>
            </a:r>
            <a:r>
              <a:rPr dirty="0"/>
              <a:t>(" %");</a:t>
            </a:r>
          </a:p>
          <a:p>
            <a:pPr>
              <a:lnSpc>
                <a:spcPts val="1500"/>
              </a:lnSpc>
              <a:spcAft>
                <a:spcPts val="200"/>
              </a:spcAft>
              <a:defRPr sz="1100">
                <a:solidFill>
                  <a:srgbClr val="BEEBC3"/>
                </a:solidFill>
                <a:latin typeface="Cascadia Code"/>
              </a:defRPr>
            </a:pPr>
            <a:r>
              <a:rPr dirty="0"/>
              <a:t>  delay(1000);</a:t>
            </a:r>
          </a:p>
          <a:p>
            <a:pPr>
              <a:lnSpc>
                <a:spcPts val="1500"/>
              </a:lnSpc>
              <a:spcAft>
                <a:spcPts val="200"/>
              </a:spcAft>
              <a:defRPr sz="1100">
                <a:solidFill>
                  <a:srgbClr val="BEEBC3"/>
                </a:solidFill>
                <a:latin typeface="Cascadia Code"/>
              </a:defRPr>
            </a:pPr>
            <a:r>
              <a:rPr dirty="0"/>
              <a:t>}</a:t>
            </a:r>
          </a:p>
        </p:txBody>
      </p:sp>
      <p:sp>
        <p:nvSpPr>
          <p:cNvPr id="13" name="TextBox 12"/>
          <p:cNvSpPr txBox="1"/>
          <p:nvPr/>
        </p:nvSpPr>
        <p:spPr>
          <a:xfrm>
            <a:off x="6400800" y="1051560"/>
            <a:ext cx="5303520" cy="2225674"/>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sz="1300" b="1" dirty="0">
                <a:solidFill>
                  <a:srgbClr val="0F284B"/>
                </a:solidFill>
                <a:latin typeface="Amasis MT Pro" panose="02040504050005020304" pitchFamily="18" charset="0"/>
              </a:rPr>
              <a:t>Observations: </a:t>
            </a:r>
            <a:r>
              <a:rPr sz="1300" dirty="0">
                <a:solidFill>
                  <a:srgbClr val="232832"/>
                </a:solidFill>
                <a:latin typeface="Amasis MT Pro" panose="02040504050005020304" pitchFamily="18" charset="0"/>
              </a:rPr>
              <a:t>The ESP32 reads temperature (26.70 °C) and humidity (57–58%) accurately every second. Values update continuously on the Serial Monitor.</a:t>
            </a:r>
          </a:p>
          <a:p>
            <a:pPr marL="285750" indent="-285750">
              <a:lnSpc>
                <a:spcPts val="1900"/>
              </a:lnSpc>
              <a:spcAft>
                <a:spcPts val="800"/>
              </a:spcAft>
              <a:buFont typeface="Arial" panose="020B0604020202020204" pitchFamily="34" charset="0"/>
              <a:buChar char="•"/>
            </a:pPr>
            <a:r>
              <a:rPr sz="1300" b="1" dirty="0">
                <a:solidFill>
                  <a:srgbClr val="0F284B"/>
                </a:solidFill>
                <a:latin typeface="Amasis MT Pro" panose="02040504050005020304" pitchFamily="18" charset="0"/>
              </a:rPr>
              <a:t>Result: </a:t>
            </a:r>
            <a:r>
              <a:rPr sz="1300" dirty="0">
                <a:solidFill>
                  <a:srgbClr val="232832"/>
                </a:solidFill>
                <a:latin typeface="Amasis MT Pro" panose="02040504050005020304" pitchFamily="18" charset="0"/>
              </a:rPr>
              <a:t>Successfully interfaced the DHT11 sensor and displayed live environmental readings. Validated error handling for sensor read failures.</a:t>
            </a:r>
          </a:p>
          <a:p>
            <a:pPr marL="285750" indent="-285750">
              <a:lnSpc>
                <a:spcPts val="1900"/>
              </a:lnSpc>
              <a:spcAft>
                <a:spcPts val="800"/>
              </a:spcAft>
              <a:buFont typeface="Arial" panose="020B0604020202020204" pitchFamily="34" charset="0"/>
              <a:buChar char="•"/>
            </a:pPr>
            <a:r>
              <a:rPr sz="1300" b="1" dirty="0">
                <a:solidFill>
                  <a:srgbClr val="0F284B"/>
                </a:solidFill>
                <a:latin typeface="Amasis MT Pro" panose="02040504050005020304" pitchFamily="18" charset="0"/>
              </a:rPr>
              <a:t>Key Learnings: </a:t>
            </a:r>
            <a:r>
              <a:rPr sz="1300" dirty="0" err="1">
                <a:solidFill>
                  <a:srgbClr val="232832"/>
                </a:solidFill>
                <a:latin typeface="Amasis MT Pro" panose="02040504050005020304" pitchFamily="18" charset="0"/>
              </a:rPr>
              <a:t>Serial.begin</a:t>
            </a:r>
            <a:r>
              <a:rPr sz="1300" dirty="0">
                <a:solidFill>
                  <a:srgbClr val="232832"/>
                </a:solidFill>
                <a:latin typeface="Amasis MT Pro" panose="02040504050005020304" pitchFamily="18" charset="0"/>
              </a:rPr>
              <a:t>(), </a:t>
            </a:r>
            <a:r>
              <a:rPr sz="1300" dirty="0" err="1">
                <a:solidFill>
                  <a:srgbClr val="232832"/>
                </a:solidFill>
                <a:latin typeface="Amasis MT Pro" panose="02040504050005020304" pitchFamily="18" charset="0"/>
              </a:rPr>
              <a:t>dht.begin</a:t>
            </a:r>
            <a:r>
              <a:rPr sz="1300" dirty="0">
                <a:solidFill>
                  <a:srgbClr val="232832"/>
                </a:solidFill>
                <a:latin typeface="Amasis MT Pro" panose="02040504050005020304" pitchFamily="18" charset="0"/>
              </a:rPr>
              <a:t>(), </a:t>
            </a:r>
            <a:r>
              <a:rPr sz="1300" dirty="0" err="1">
                <a:solidFill>
                  <a:srgbClr val="232832"/>
                </a:solidFill>
                <a:latin typeface="Amasis MT Pro" panose="02040504050005020304" pitchFamily="18" charset="0"/>
              </a:rPr>
              <a:t>isnan</a:t>
            </a:r>
            <a:r>
              <a:rPr sz="1300" dirty="0">
                <a:solidFill>
                  <a:srgbClr val="232832"/>
                </a:solidFill>
                <a:latin typeface="Amasis MT Pro" panose="02040504050005020304" pitchFamily="18" charset="0"/>
              </a:rPr>
              <a:t>() error checking, and delay()-based periodic sampling.</a:t>
            </a:r>
          </a:p>
        </p:txBody>
      </p:sp>
      <p:sp>
        <p:nvSpPr>
          <p:cNvPr id="14" name="Rounded Rectangle 13"/>
          <p:cNvSpPr/>
          <p:nvPr/>
        </p:nvSpPr>
        <p:spPr>
          <a:xfrm>
            <a:off x="6400800" y="3749039"/>
            <a:ext cx="5303520" cy="22860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3840480"/>
            <a:ext cx="4754880" cy="320040"/>
          </a:xfrm>
          <a:prstGeom prst="rect">
            <a:avLst/>
          </a:prstGeom>
          <a:noFill/>
        </p:spPr>
        <p:txBody>
          <a:bodyPr wrap="square">
            <a:spAutoFit/>
          </a:bodyPr>
          <a:lstStyle/>
          <a:p>
            <a:pPr algn="l">
              <a:defRPr sz="1600" b="1" i="0">
                <a:solidFill>
                  <a:srgbClr val="0F284B"/>
                </a:solidFill>
                <a:latin typeface="Segoe UI Semibold"/>
              </a:defRPr>
            </a:pPr>
            <a:r>
              <a:t>Applications</a:t>
            </a:r>
          </a:p>
        </p:txBody>
      </p:sp>
      <p:sp>
        <p:nvSpPr>
          <p:cNvPr id="17" name="TextBox 16"/>
          <p:cNvSpPr txBox="1"/>
          <p:nvPr/>
        </p:nvSpPr>
        <p:spPr>
          <a:xfrm>
            <a:off x="6675120" y="4206240"/>
            <a:ext cx="4754880" cy="1737360"/>
          </a:xfrm>
          <a:prstGeom prst="rect">
            <a:avLst/>
          </a:prstGeom>
          <a:noFill/>
        </p:spPr>
        <p:txBody>
          <a:bodyPr wrap="square">
            <a:spAutoFit/>
          </a:bodyPr>
          <a:lstStyle/>
          <a:p>
            <a:pPr>
              <a:lnSpc>
                <a:spcPts val="1800"/>
              </a:lnSpc>
              <a:spcAft>
                <a:spcPts val="600"/>
              </a:spcAft>
            </a:pPr>
            <a:r>
              <a:rPr sz="1300">
                <a:solidFill>
                  <a:srgbClr val="46505F"/>
                </a:solidFill>
                <a:latin typeface="Segoe UI"/>
              </a:rPr>
              <a:t>✦  Room temperature &amp; humidity monitoring</a:t>
            </a:r>
          </a:p>
          <a:p>
            <a:pPr>
              <a:lnSpc>
                <a:spcPts val="1800"/>
              </a:lnSpc>
              <a:spcAft>
                <a:spcPts val="600"/>
              </a:spcAft>
            </a:pPr>
            <a:r>
              <a:rPr sz="1300">
                <a:solidFill>
                  <a:srgbClr val="46505F"/>
                </a:solidFill>
                <a:latin typeface="Segoe UI"/>
              </a:rPr>
              <a:t>✦  Weather monitoring stations</a:t>
            </a:r>
          </a:p>
          <a:p>
            <a:pPr>
              <a:lnSpc>
                <a:spcPts val="1800"/>
              </a:lnSpc>
              <a:spcAft>
                <a:spcPts val="600"/>
              </a:spcAft>
            </a:pPr>
            <a:r>
              <a:rPr sz="1300">
                <a:solidFill>
                  <a:srgbClr val="46505F"/>
                </a:solidFill>
                <a:latin typeface="Segoe UI"/>
              </a:rPr>
              <a:t>✦  Smart home (fan, cooler, humidifier control)</a:t>
            </a:r>
          </a:p>
          <a:p>
            <a:pPr>
              <a:lnSpc>
                <a:spcPts val="1800"/>
              </a:lnSpc>
              <a:spcAft>
                <a:spcPts val="600"/>
              </a:spcAft>
            </a:pPr>
            <a:r>
              <a:rPr sz="1300">
                <a:solidFill>
                  <a:srgbClr val="46505F"/>
                </a:solidFill>
                <a:latin typeface="Segoe UI"/>
              </a:rPr>
              <a:t>✦  Greenhouse &amp; agriculture monitoring</a:t>
            </a:r>
          </a:p>
          <a:p>
            <a:pPr>
              <a:lnSpc>
                <a:spcPts val="1800"/>
              </a:lnSpc>
              <a:spcAft>
                <a:spcPts val="600"/>
              </a:spcAft>
            </a:pPr>
            <a:r>
              <a:rPr sz="1300">
                <a:solidFill>
                  <a:srgbClr val="46505F"/>
                </a:solidFill>
                <a:latin typeface="Segoe UI"/>
              </a:rPr>
              <a:t>✦  IoT cloud integration projects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3 — DHT11 Sensor with OLED Display (I2C)</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9</a:t>
            </a:r>
          </a:p>
        </p:txBody>
      </p:sp>
      <p:sp>
        <p:nvSpPr>
          <p:cNvPr id="9" name="TextBox 8"/>
          <p:cNvSpPr txBox="1"/>
          <p:nvPr/>
        </p:nvSpPr>
        <p:spPr>
          <a:xfrm>
            <a:off x="457200" y="1051560"/>
            <a:ext cx="5737123" cy="3924472"/>
          </a:xfrm>
          <a:prstGeom prst="rect">
            <a:avLst/>
          </a:prstGeom>
          <a:noFill/>
        </p:spPr>
        <p:txBody>
          <a:bodyPr wrap="square">
            <a:spAutoFit/>
          </a:bodyPr>
          <a:lstStyle/>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Objective: </a:t>
            </a:r>
            <a:r>
              <a:rPr sz="1600" dirty="0">
                <a:solidFill>
                  <a:srgbClr val="232832"/>
                </a:solidFill>
                <a:latin typeface="Amasis MT Pro" panose="02040504050005020304" pitchFamily="18" charset="0"/>
              </a:rPr>
              <a:t>Read temperature and humidity from DHT11 and display the values on a 128×64 SSD1306 OLED using the I2C protocol.</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Working Principle: </a:t>
            </a:r>
            <a:r>
              <a:rPr sz="1600" dirty="0">
                <a:solidFill>
                  <a:srgbClr val="232832"/>
                </a:solidFill>
                <a:latin typeface="Amasis MT Pro" panose="02040504050005020304" pitchFamily="18" charset="0"/>
              </a:rPr>
              <a:t>The ESP32 communicates with the OLED via I2C (SDA → GPIO 21, SCL → GPIO 22). Adafruit_SSD1306 renders text and numbers. The display is cleared before each update to prevent ghosting.</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Components: </a:t>
            </a:r>
            <a:r>
              <a:rPr sz="1600" dirty="0">
                <a:solidFill>
                  <a:srgbClr val="232832"/>
                </a:solidFill>
                <a:latin typeface="Amasis MT Pro" panose="02040504050005020304" pitchFamily="18" charset="0"/>
              </a:rPr>
              <a:t>ESP32 </a:t>
            </a:r>
            <a:r>
              <a:rPr sz="1600" dirty="0" err="1">
                <a:solidFill>
                  <a:srgbClr val="232832"/>
                </a:solidFill>
                <a:latin typeface="Amasis MT Pro" panose="02040504050005020304" pitchFamily="18" charset="0"/>
              </a:rPr>
              <a:t>DevKit</a:t>
            </a:r>
            <a:r>
              <a:rPr sz="1600" dirty="0">
                <a:solidFill>
                  <a:srgbClr val="232832"/>
                </a:solidFill>
                <a:latin typeface="Amasis MT Pro" panose="02040504050005020304" pitchFamily="18" charset="0"/>
              </a:rPr>
              <a:t>, DHT11 Sensor (GPIO 16), SSD1306 OLED Display (128×64, I2C), Jumper Wires.</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Connections: </a:t>
            </a:r>
            <a:r>
              <a:rPr sz="1600" dirty="0">
                <a:solidFill>
                  <a:srgbClr val="232832"/>
                </a:solidFill>
                <a:latin typeface="Amasis MT Pro" panose="02040504050005020304" pitchFamily="18" charset="0"/>
              </a:rPr>
              <a:t>OLED VCC → 3.3V, GND → GND, SDA → GPIO 21, SCL → GPIO 22.</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Libraries: </a:t>
            </a:r>
            <a:r>
              <a:rPr sz="1600" dirty="0" err="1">
                <a:solidFill>
                  <a:srgbClr val="232832"/>
                </a:solidFill>
                <a:latin typeface="Amasis MT Pro" panose="02040504050005020304" pitchFamily="18" charset="0"/>
              </a:rPr>
              <a:t>Wire.h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Adafruit_GFX.h</a:t>
            </a:r>
            <a:r>
              <a:rPr sz="1600" dirty="0">
                <a:solidFill>
                  <a:srgbClr val="232832"/>
                </a:solidFill>
                <a:latin typeface="Amasis MT Pro" panose="02040504050005020304" pitchFamily="18" charset="0"/>
              </a:rPr>
              <a:t>, Adafruit_SSD1306.h, </a:t>
            </a:r>
            <a:r>
              <a:rPr sz="1600" dirty="0" err="1">
                <a:solidFill>
                  <a:srgbClr val="232832"/>
                </a:solidFill>
                <a:latin typeface="Amasis MT Pro" panose="02040504050005020304" pitchFamily="18" charset="0"/>
              </a:rPr>
              <a:t>DHT.h</a:t>
            </a:r>
            <a:r>
              <a:rPr sz="1600" dirty="0">
                <a:solidFill>
                  <a:srgbClr val="232832"/>
                </a:solidFill>
                <a:latin typeface="Amasis MT Pro" panose="02040504050005020304" pitchFamily="18" charset="0"/>
              </a:rPr>
              <a:t>.</a:t>
            </a:r>
          </a:p>
        </p:txBody>
      </p:sp>
      <p:sp>
        <p:nvSpPr>
          <p:cNvPr id="10" name="Rounded Rectangle 9"/>
          <p:cNvSpPr/>
          <p:nvPr/>
        </p:nvSpPr>
        <p:spPr>
          <a:xfrm>
            <a:off x="6528816" y="996696"/>
            <a:ext cx="4423620" cy="1938528"/>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lock_exp3.png"/>
          <p:cNvPicPr>
            <a:picLocks noChangeAspect="1"/>
          </p:cNvPicPr>
          <p:nvPr/>
        </p:nvPicPr>
        <p:blipFill>
          <a:blip r:embed="rId2"/>
          <a:stretch>
            <a:fillRect/>
          </a:stretch>
        </p:blipFill>
        <p:spPr>
          <a:xfrm>
            <a:off x="6583680" y="1051560"/>
            <a:ext cx="4313892" cy="1828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p:cNvSpPr txBox="1"/>
          <p:nvPr/>
        </p:nvSpPr>
        <p:spPr>
          <a:xfrm>
            <a:off x="6583680" y="2953512"/>
            <a:ext cx="4313892" cy="320040"/>
          </a:xfrm>
          <a:prstGeom prst="rect">
            <a:avLst/>
          </a:prstGeom>
          <a:noFill/>
        </p:spPr>
        <p:txBody>
          <a:bodyPr wrap="square">
            <a:spAutoFit/>
          </a:bodyPr>
          <a:lstStyle/>
          <a:p>
            <a:pPr algn="ctr">
              <a:defRPr sz="1100" b="0" i="1">
                <a:solidFill>
                  <a:srgbClr val="788291"/>
                </a:solidFill>
                <a:latin typeface="Segoe UI Light"/>
              </a:defRPr>
            </a:pPr>
            <a:r>
              <a:t>Fig 3.1 — Block Diagram: DHT11 → ESP32 → OLED + Serial</a:t>
            </a:r>
          </a:p>
        </p:txBody>
      </p:sp>
      <p:sp>
        <p:nvSpPr>
          <p:cNvPr id="13" name="Rounded Rectangle 12"/>
          <p:cNvSpPr/>
          <p:nvPr/>
        </p:nvSpPr>
        <p:spPr>
          <a:xfrm>
            <a:off x="7049729" y="3291840"/>
            <a:ext cx="4218039" cy="2350579"/>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5642419"/>
            <a:ext cx="4572000" cy="261610"/>
          </a:xfrm>
          <a:prstGeom prst="rect">
            <a:avLst/>
          </a:prstGeom>
          <a:noFill/>
        </p:spPr>
        <p:txBody>
          <a:bodyPr wrap="square">
            <a:spAutoFit/>
          </a:bodyPr>
          <a:lstStyle/>
          <a:p>
            <a:pPr algn="ctr">
              <a:defRPr sz="1100" b="0" i="1">
                <a:solidFill>
                  <a:srgbClr val="788291"/>
                </a:solidFill>
                <a:latin typeface="Segoe UI Light"/>
              </a:defRPr>
            </a:pPr>
            <a:r>
              <a:rPr dirty="0"/>
              <a:t>Fig 3.2 — </a:t>
            </a:r>
            <a:r>
              <a:rPr lang="en-US" dirty="0"/>
              <a:t>OLED screen showing temperate and humidity</a:t>
            </a:r>
          </a:p>
        </p:txBody>
      </p:sp>
      <p:pic>
        <p:nvPicPr>
          <p:cNvPr id="17" name="Picture 16">
            <a:extLst>
              <a:ext uri="{FF2B5EF4-FFF2-40B4-BE49-F238E27FC236}">
                <a16:creationId xmlns:a16="http://schemas.microsoft.com/office/drawing/2014/main" id="{4F1E424A-B46A-B6D6-2145-A1243E0CCDA7}"/>
              </a:ext>
            </a:extLst>
          </p:cNvPr>
          <p:cNvPicPr>
            <a:picLocks noChangeAspect="1"/>
          </p:cNvPicPr>
          <p:nvPr/>
        </p:nvPicPr>
        <p:blipFill>
          <a:blip r:embed="rId3"/>
          <a:srcRect l="14168" t="21183" r="17979" b="21325"/>
          <a:stretch>
            <a:fillRect/>
          </a:stretch>
        </p:blipFill>
        <p:spPr>
          <a:xfrm rot="16200000">
            <a:off x="8104473" y="2497902"/>
            <a:ext cx="2108553" cy="394273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3 — Code, Output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10</a:t>
            </a:r>
          </a:p>
        </p:txBody>
      </p:sp>
      <p:sp>
        <p:nvSpPr>
          <p:cNvPr id="9" name="Rounded Rectangle 8"/>
          <p:cNvSpPr/>
          <p:nvPr/>
        </p:nvSpPr>
        <p:spPr>
          <a:xfrm>
            <a:off x="457200" y="1051560"/>
            <a:ext cx="5486400" cy="4617720"/>
          </a:xfrm>
          <a:prstGeom prst="roundRect">
            <a:avLst/>
          </a:pr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5120640" cy="3886200"/>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rPr dirty="0"/>
              <a:t>#include &lt;</a:t>
            </a:r>
            <a:r>
              <a:rPr dirty="0" err="1"/>
              <a:t>Wire.h</a:t>
            </a:r>
            <a:r>
              <a:rPr dirty="0"/>
              <a:t>&gt;</a:t>
            </a:r>
          </a:p>
          <a:p>
            <a:pPr>
              <a:lnSpc>
                <a:spcPts val="1500"/>
              </a:lnSpc>
              <a:spcAft>
                <a:spcPts val="200"/>
              </a:spcAft>
              <a:defRPr sz="1100">
                <a:solidFill>
                  <a:srgbClr val="BEEBC3"/>
                </a:solidFill>
                <a:latin typeface="Cascadia Code"/>
              </a:defRPr>
            </a:pPr>
            <a:r>
              <a:rPr dirty="0"/>
              <a:t>#include &lt;</a:t>
            </a:r>
            <a:r>
              <a:rPr dirty="0" err="1"/>
              <a:t>Adafruit_GFX.h</a:t>
            </a:r>
            <a:r>
              <a:rPr dirty="0"/>
              <a:t>&gt;</a:t>
            </a:r>
          </a:p>
          <a:p>
            <a:pPr>
              <a:lnSpc>
                <a:spcPts val="1500"/>
              </a:lnSpc>
              <a:spcAft>
                <a:spcPts val="200"/>
              </a:spcAft>
              <a:defRPr sz="1100">
                <a:solidFill>
                  <a:srgbClr val="BEEBC3"/>
                </a:solidFill>
                <a:latin typeface="Cascadia Code"/>
              </a:defRPr>
            </a:pPr>
            <a:r>
              <a:rPr dirty="0"/>
              <a:t>#include &lt;Adafruit_SSD1306.h&gt;</a:t>
            </a:r>
          </a:p>
          <a:p>
            <a:pPr>
              <a:lnSpc>
                <a:spcPts val="1500"/>
              </a:lnSpc>
              <a:spcAft>
                <a:spcPts val="200"/>
              </a:spcAft>
              <a:defRPr sz="1100">
                <a:solidFill>
                  <a:srgbClr val="BEEBC3"/>
                </a:solidFill>
                <a:latin typeface="Cascadia Code"/>
              </a:defRPr>
            </a:pPr>
            <a:r>
              <a:rPr dirty="0"/>
              <a:t>#include &lt;</a:t>
            </a:r>
            <a:r>
              <a:rPr dirty="0" err="1"/>
              <a:t>DHT.h</a:t>
            </a:r>
            <a:r>
              <a:rPr dirty="0"/>
              <a:t>&gt;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Adafruit_SSD1306 display(128, 64, &amp;Wire, -1);</a:t>
            </a:r>
          </a:p>
          <a:p>
            <a:pPr>
              <a:lnSpc>
                <a:spcPts val="1500"/>
              </a:lnSpc>
              <a:spcAft>
                <a:spcPts val="200"/>
              </a:spcAft>
              <a:defRPr sz="1100">
                <a:solidFill>
                  <a:srgbClr val="BEEBC3"/>
                </a:solidFill>
                <a:latin typeface="Cascadia Code"/>
              </a:defRPr>
            </a:pPr>
            <a:r>
              <a:rPr dirty="0"/>
              <a:t>DHT </a:t>
            </a:r>
            <a:r>
              <a:rPr dirty="0" err="1"/>
              <a:t>dht</a:t>
            </a:r>
            <a:r>
              <a:rPr dirty="0"/>
              <a:t>(16, DHT11);</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loop() {</a:t>
            </a:r>
          </a:p>
          <a:p>
            <a:pPr>
              <a:lnSpc>
                <a:spcPts val="1500"/>
              </a:lnSpc>
              <a:spcAft>
                <a:spcPts val="200"/>
              </a:spcAft>
              <a:defRPr sz="1100">
                <a:solidFill>
                  <a:srgbClr val="BEEBC3"/>
                </a:solidFill>
                <a:latin typeface="Cascadia Code"/>
              </a:defRPr>
            </a:pPr>
            <a:r>
              <a:rPr dirty="0"/>
              <a:t>  float t = </a:t>
            </a:r>
            <a:r>
              <a:rPr dirty="0" err="1"/>
              <a:t>dht.readTemperature</a:t>
            </a:r>
            <a:r>
              <a:rPr dirty="0"/>
              <a:t>();</a:t>
            </a:r>
          </a:p>
          <a:p>
            <a:pPr>
              <a:lnSpc>
                <a:spcPts val="1500"/>
              </a:lnSpc>
              <a:spcAft>
                <a:spcPts val="200"/>
              </a:spcAft>
              <a:defRPr sz="1100">
                <a:solidFill>
                  <a:srgbClr val="BEEBC3"/>
                </a:solidFill>
                <a:latin typeface="Cascadia Code"/>
              </a:defRPr>
            </a:pPr>
            <a:r>
              <a:rPr dirty="0"/>
              <a:t>  float h = </a:t>
            </a:r>
            <a:r>
              <a:rPr dirty="0" err="1"/>
              <a:t>dht.readHumidity</a:t>
            </a:r>
            <a:r>
              <a:rPr dirty="0"/>
              <a:t>();</a:t>
            </a:r>
          </a:p>
          <a:p>
            <a:pPr>
              <a:lnSpc>
                <a:spcPts val="1500"/>
              </a:lnSpc>
              <a:spcAft>
                <a:spcPts val="200"/>
              </a:spcAft>
              <a:defRPr sz="1100">
                <a:solidFill>
                  <a:srgbClr val="BEEBC3"/>
                </a:solidFill>
                <a:latin typeface="Cascadia Code"/>
              </a:defRPr>
            </a:pPr>
            <a:r>
              <a:rPr dirty="0"/>
              <a:t>  </a:t>
            </a:r>
            <a:r>
              <a:rPr dirty="0" err="1"/>
              <a:t>display.clearDisplay</a:t>
            </a:r>
            <a:r>
              <a:rPr dirty="0"/>
              <a:t>();</a:t>
            </a:r>
          </a:p>
          <a:p>
            <a:pPr>
              <a:lnSpc>
                <a:spcPts val="1500"/>
              </a:lnSpc>
              <a:spcAft>
                <a:spcPts val="200"/>
              </a:spcAft>
              <a:defRPr sz="1100">
                <a:solidFill>
                  <a:srgbClr val="BEEBC3"/>
                </a:solidFill>
                <a:latin typeface="Cascadia Code"/>
              </a:defRPr>
            </a:pPr>
            <a:r>
              <a:rPr dirty="0"/>
              <a:t>  </a:t>
            </a:r>
            <a:r>
              <a:rPr dirty="0" err="1"/>
              <a:t>display.setTextSize</a:t>
            </a:r>
            <a:r>
              <a:rPr dirty="0"/>
              <a:t>(2);</a:t>
            </a:r>
          </a:p>
          <a:p>
            <a:pPr>
              <a:lnSpc>
                <a:spcPts val="1500"/>
              </a:lnSpc>
              <a:spcAft>
                <a:spcPts val="200"/>
              </a:spcAft>
              <a:defRPr sz="1100">
                <a:solidFill>
                  <a:srgbClr val="BEEBC3"/>
                </a:solidFill>
                <a:latin typeface="Cascadia Code"/>
              </a:defRPr>
            </a:pPr>
            <a:r>
              <a:rPr dirty="0"/>
              <a:t>  </a:t>
            </a:r>
            <a:r>
              <a:rPr dirty="0" err="1"/>
              <a:t>display.setCursor</a:t>
            </a:r>
            <a:r>
              <a:rPr dirty="0"/>
              <a:t>(0, 12);</a:t>
            </a:r>
          </a:p>
          <a:p>
            <a:pPr>
              <a:lnSpc>
                <a:spcPts val="1500"/>
              </a:lnSpc>
              <a:spcAft>
                <a:spcPts val="200"/>
              </a:spcAft>
              <a:defRPr sz="1100">
                <a:solidFill>
                  <a:srgbClr val="BEEBC3"/>
                </a:solidFill>
                <a:latin typeface="Cascadia Code"/>
              </a:defRPr>
            </a:pPr>
            <a:r>
              <a:rPr dirty="0"/>
              <a:t>  </a:t>
            </a:r>
            <a:r>
              <a:rPr dirty="0" err="1"/>
              <a:t>display.print</a:t>
            </a:r>
            <a:r>
              <a:rPr dirty="0"/>
              <a:t>(t); </a:t>
            </a:r>
            <a:r>
              <a:rPr dirty="0" err="1"/>
              <a:t>display.print</a:t>
            </a:r>
            <a:r>
              <a:rPr dirty="0"/>
              <a:t>(" C");</a:t>
            </a:r>
          </a:p>
          <a:p>
            <a:pPr>
              <a:lnSpc>
                <a:spcPts val="1500"/>
              </a:lnSpc>
              <a:spcAft>
                <a:spcPts val="200"/>
              </a:spcAft>
              <a:defRPr sz="1100">
                <a:solidFill>
                  <a:srgbClr val="BEEBC3"/>
                </a:solidFill>
                <a:latin typeface="Cascadia Code"/>
              </a:defRPr>
            </a:pPr>
            <a:r>
              <a:rPr dirty="0"/>
              <a:t>  </a:t>
            </a:r>
            <a:r>
              <a:rPr dirty="0" err="1"/>
              <a:t>display.setCursor</a:t>
            </a:r>
            <a:r>
              <a:rPr dirty="0"/>
              <a:t>(0, 52);</a:t>
            </a:r>
          </a:p>
          <a:p>
            <a:pPr>
              <a:lnSpc>
                <a:spcPts val="1500"/>
              </a:lnSpc>
              <a:spcAft>
                <a:spcPts val="200"/>
              </a:spcAft>
              <a:defRPr sz="1100">
                <a:solidFill>
                  <a:srgbClr val="BEEBC3"/>
                </a:solidFill>
                <a:latin typeface="Cascadia Code"/>
              </a:defRPr>
            </a:pPr>
            <a:r>
              <a:rPr dirty="0"/>
              <a:t>  </a:t>
            </a:r>
            <a:r>
              <a:rPr dirty="0" err="1"/>
              <a:t>display.print</a:t>
            </a:r>
            <a:r>
              <a:rPr dirty="0"/>
              <a:t>(h); </a:t>
            </a:r>
            <a:r>
              <a:rPr dirty="0" err="1"/>
              <a:t>display.print</a:t>
            </a:r>
            <a:r>
              <a:rPr dirty="0"/>
              <a:t>("%");</a:t>
            </a:r>
          </a:p>
          <a:p>
            <a:pPr>
              <a:lnSpc>
                <a:spcPts val="1500"/>
              </a:lnSpc>
              <a:spcAft>
                <a:spcPts val="200"/>
              </a:spcAft>
              <a:defRPr sz="1100">
                <a:solidFill>
                  <a:srgbClr val="BEEBC3"/>
                </a:solidFill>
                <a:latin typeface="Cascadia Code"/>
              </a:defRPr>
            </a:pPr>
            <a:r>
              <a:rPr dirty="0"/>
              <a:t>  </a:t>
            </a:r>
            <a:r>
              <a:rPr dirty="0" err="1"/>
              <a:t>display.display</a:t>
            </a:r>
            <a:r>
              <a:rPr dirty="0"/>
              <a:t>();</a:t>
            </a:r>
          </a:p>
          <a:p>
            <a:pPr>
              <a:lnSpc>
                <a:spcPts val="1500"/>
              </a:lnSpc>
              <a:spcAft>
                <a:spcPts val="200"/>
              </a:spcAft>
              <a:defRPr sz="1100">
                <a:solidFill>
                  <a:srgbClr val="BEEBC3"/>
                </a:solidFill>
                <a:latin typeface="Cascadia Code"/>
              </a:defRPr>
            </a:pPr>
            <a:r>
              <a:rPr dirty="0"/>
              <a:t>}</a:t>
            </a:r>
          </a:p>
        </p:txBody>
      </p:sp>
      <p:sp>
        <p:nvSpPr>
          <p:cNvPr id="12" name="TextBox 11"/>
          <p:cNvSpPr txBox="1"/>
          <p:nvPr/>
        </p:nvSpPr>
        <p:spPr>
          <a:xfrm>
            <a:off x="427025" y="5758261"/>
            <a:ext cx="5486400" cy="274320"/>
          </a:xfrm>
          <a:prstGeom prst="rect">
            <a:avLst/>
          </a:prstGeom>
          <a:noFill/>
        </p:spPr>
        <p:txBody>
          <a:bodyPr wrap="square">
            <a:spAutoFit/>
          </a:bodyPr>
          <a:lstStyle/>
          <a:p>
            <a:pPr algn="ctr">
              <a:defRPr sz="1100" b="0" i="1">
                <a:solidFill>
                  <a:srgbClr val="788291"/>
                </a:solidFill>
                <a:latin typeface="Segoe UI Light"/>
              </a:defRPr>
            </a:pPr>
            <a:r>
              <a:rPr dirty="0"/>
              <a:t>Source Code — DHT11 + OLED Display</a:t>
            </a:r>
          </a:p>
        </p:txBody>
      </p:sp>
      <p:sp>
        <p:nvSpPr>
          <p:cNvPr id="13" name="TextBox 12"/>
          <p:cNvSpPr txBox="1"/>
          <p:nvPr/>
        </p:nvSpPr>
        <p:spPr>
          <a:xfrm>
            <a:off x="6400800" y="1051560"/>
            <a:ext cx="5303520" cy="2225674"/>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Observations: </a:t>
            </a:r>
            <a:r>
              <a:rPr sz="1400" dirty="0">
                <a:solidFill>
                  <a:srgbClr val="232832"/>
                </a:solidFill>
                <a:latin typeface="Amasis MT Pro" panose="02040504050005020304" pitchFamily="18" charset="0"/>
              </a:rPr>
              <a:t>Temperature and humidity values render on the OLED in two text sizes. The display refreshes every 2 seconds without flickering thanks to </a:t>
            </a:r>
            <a:r>
              <a:rPr sz="1400" dirty="0" err="1">
                <a:solidFill>
                  <a:srgbClr val="232832"/>
                </a:solidFill>
                <a:latin typeface="Amasis MT Pro" panose="02040504050005020304" pitchFamily="18" charset="0"/>
              </a:rPr>
              <a:t>clearDisplay</a:t>
            </a:r>
            <a:r>
              <a:rPr sz="1400" dirty="0">
                <a:solidFill>
                  <a:srgbClr val="232832"/>
                </a:solidFill>
                <a:latin typeface="Amasis MT Pro" panose="02040504050005020304" pitchFamily="18" charset="0"/>
              </a:rPr>
              <a:t>().</a:t>
            </a:r>
          </a:p>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Result: </a:t>
            </a:r>
            <a:r>
              <a:rPr sz="1400" dirty="0">
                <a:solidFill>
                  <a:srgbClr val="232832"/>
                </a:solidFill>
                <a:latin typeface="Amasis MT Pro" panose="02040504050005020304" pitchFamily="18" charset="0"/>
              </a:rPr>
              <a:t>Successfully integrated three hardware modules (ESP32, DHT11, OLED) into a standalone embedded display system without requiring a computer.</a:t>
            </a:r>
          </a:p>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Key Learnings: </a:t>
            </a:r>
            <a:r>
              <a:rPr sz="1400" dirty="0">
                <a:solidFill>
                  <a:srgbClr val="232832"/>
                </a:solidFill>
                <a:latin typeface="Amasis MT Pro" panose="02040504050005020304" pitchFamily="18" charset="0"/>
              </a:rPr>
              <a:t>I2C protocol, OLED address 0x3C, cursor positioning, text sizing, multi-module embedded integration.</a:t>
            </a:r>
          </a:p>
        </p:txBody>
      </p:sp>
      <p:sp>
        <p:nvSpPr>
          <p:cNvPr id="14" name="Rounded Rectangle 13"/>
          <p:cNvSpPr/>
          <p:nvPr/>
        </p:nvSpPr>
        <p:spPr>
          <a:xfrm>
            <a:off x="6400800" y="3749039"/>
            <a:ext cx="5303520" cy="22860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3840480"/>
            <a:ext cx="4754880" cy="320040"/>
          </a:xfrm>
          <a:prstGeom prst="rect">
            <a:avLst/>
          </a:prstGeom>
          <a:noFill/>
        </p:spPr>
        <p:txBody>
          <a:bodyPr wrap="square">
            <a:spAutoFit/>
          </a:bodyPr>
          <a:lstStyle/>
          <a:p>
            <a:pPr algn="l">
              <a:defRPr sz="1600" b="1" i="0">
                <a:solidFill>
                  <a:srgbClr val="0F284B"/>
                </a:solidFill>
                <a:latin typeface="Segoe UI Semibold"/>
              </a:defRPr>
            </a:pPr>
            <a:r>
              <a:rPr dirty="0"/>
              <a:t>Applications</a:t>
            </a:r>
          </a:p>
        </p:txBody>
      </p:sp>
      <p:sp>
        <p:nvSpPr>
          <p:cNvPr id="17" name="TextBox 16"/>
          <p:cNvSpPr txBox="1"/>
          <p:nvPr/>
        </p:nvSpPr>
        <p:spPr>
          <a:xfrm>
            <a:off x="6675120" y="4206240"/>
            <a:ext cx="4754880" cy="1737360"/>
          </a:xfrm>
          <a:prstGeom prst="rect">
            <a:avLst/>
          </a:prstGeom>
          <a:noFill/>
        </p:spPr>
        <p:txBody>
          <a:bodyPr wrap="square">
            <a:spAutoFit/>
          </a:bodyPr>
          <a:lstStyle/>
          <a:p>
            <a:pPr>
              <a:lnSpc>
                <a:spcPts val="1800"/>
              </a:lnSpc>
              <a:spcAft>
                <a:spcPts val="600"/>
              </a:spcAft>
            </a:pPr>
            <a:r>
              <a:rPr sz="1300" dirty="0">
                <a:solidFill>
                  <a:srgbClr val="46505F"/>
                </a:solidFill>
                <a:latin typeface="Segoe UI"/>
              </a:rPr>
              <a:t>✦  Weather monitoring stations with display</a:t>
            </a:r>
          </a:p>
          <a:p>
            <a:pPr>
              <a:lnSpc>
                <a:spcPts val="1800"/>
              </a:lnSpc>
              <a:spcAft>
                <a:spcPts val="600"/>
              </a:spcAft>
            </a:pPr>
            <a:r>
              <a:rPr sz="1300" dirty="0">
                <a:solidFill>
                  <a:srgbClr val="46505F"/>
                </a:solidFill>
                <a:latin typeface="Segoe UI"/>
              </a:rPr>
              <a:t>✦  Smart home temperature panels</a:t>
            </a:r>
          </a:p>
          <a:p>
            <a:pPr>
              <a:lnSpc>
                <a:spcPts val="1800"/>
              </a:lnSpc>
              <a:spcAft>
                <a:spcPts val="600"/>
              </a:spcAft>
            </a:pPr>
            <a:r>
              <a:rPr sz="1300" dirty="0">
                <a:solidFill>
                  <a:srgbClr val="46505F"/>
                </a:solidFill>
                <a:latin typeface="Segoe UI"/>
              </a:rPr>
              <a:t>✦  Greenhouse &amp; indoor environment monitors</a:t>
            </a:r>
          </a:p>
          <a:p>
            <a:pPr>
              <a:lnSpc>
                <a:spcPts val="1800"/>
              </a:lnSpc>
              <a:spcAft>
                <a:spcPts val="600"/>
              </a:spcAft>
            </a:pPr>
            <a:r>
              <a:rPr sz="1300" dirty="0">
                <a:solidFill>
                  <a:srgbClr val="46505F"/>
                </a:solidFill>
                <a:latin typeface="Segoe UI"/>
              </a:rPr>
              <a:t>✦  Server room / laboratory condition displays</a:t>
            </a:r>
          </a:p>
          <a:p>
            <a:pPr>
              <a:lnSpc>
                <a:spcPts val="1800"/>
              </a:lnSpc>
              <a:spcAft>
                <a:spcPts val="600"/>
              </a:spcAft>
            </a:pPr>
            <a:r>
              <a:rPr sz="1300" dirty="0">
                <a:solidFill>
                  <a:srgbClr val="46505F"/>
                </a:solidFill>
                <a:latin typeface="Segoe UI"/>
              </a:rPr>
              <a:t>✦  Educational embedded systems projects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4 — ESP32 Wi-Fi Network Scanner</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11</a:t>
            </a:r>
          </a:p>
        </p:txBody>
      </p:sp>
      <p:sp>
        <p:nvSpPr>
          <p:cNvPr id="9" name="TextBox 8"/>
          <p:cNvSpPr txBox="1"/>
          <p:nvPr/>
        </p:nvSpPr>
        <p:spPr>
          <a:xfrm>
            <a:off x="457200" y="1051560"/>
            <a:ext cx="5717458" cy="3796232"/>
          </a:xfrm>
          <a:prstGeom prst="rect">
            <a:avLst/>
          </a:prstGeom>
          <a:noFill/>
        </p:spPr>
        <p:txBody>
          <a:bodyPr wrap="square">
            <a:spAutoFit/>
          </a:bodyPr>
          <a:lstStyle/>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Objective: </a:t>
            </a:r>
            <a:r>
              <a:rPr sz="1600" dirty="0" err="1">
                <a:solidFill>
                  <a:srgbClr val="232832"/>
                </a:solidFill>
                <a:latin typeface="Amasis MT Pro" panose="02040504050005020304" pitchFamily="18" charset="0"/>
              </a:rPr>
              <a:t>Utilise</a:t>
            </a:r>
            <a:r>
              <a:rPr sz="1600" dirty="0">
                <a:solidFill>
                  <a:srgbClr val="232832"/>
                </a:solidFill>
                <a:latin typeface="Amasis MT Pro" panose="02040504050005020304" pitchFamily="18" charset="0"/>
              </a:rPr>
              <a:t> the ESP32's built-in Wi-Fi capability to scan and list all nearby wireless networks along with their details.</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Working Principle: </a:t>
            </a:r>
            <a:r>
              <a:rPr sz="1600" dirty="0">
                <a:solidFill>
                  <a:srgbClr val="232832"/>
                </a:solidFill>
                <a:latin typeface="Amasis MT Pro" panose="02040504050005020304" pitchFamily="18" charset="0"/>
              </a:rPr>
              <a:t>The ESP32 is set to Station (STA) mode and disconnected from any previous network. </a:t>
            </a:r>
            <a:r>
              <a:rPr sz="1600" dirty="0" err="1">
                <a:solidFill>
                  <a:srgbClr val="232832"/>
                </a:solidFill>
                <a:latin typeface="Amasis MT Pro" panose="02040504050005020304" pitchFamily="18" charset="0"/>
              </a:rPr>
              <a:t>WiFi.scanNetworks</a:t>
            </a:r>
            <a:r>
              <a:rPr sz="1600" dirty="0">
                <a:solidFill>
                  <a:srgbClr val="232832"/>
                </a:solidFill>
                <a:latin typeface="Amasis MT Pro" panose="02040504050005020304" pitchFamily="18" charset="0"/>
              </a:rPr>
              <a:t>() initiates a scan and returns the count. For each network, SSID, RSSI (signal strength in dBm), channel number, and encryption type are extracted and displayed.</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Components: </a:t>
            </a:r>
            <a:r>
              <a:rPr sz="1600" dirty="0">
                <a:solidFill>
                  <a:srgbClr val="232832"/>
                </a:solidFill>
                <a:latin typeface="Amasis MT Pro" panose="02040504050005020304" pitchFamily="18" charset="0"/>
              </a:rPr>
              <a:t>ESP32 </a:t>
            </a:r>
            <a:r>
              <a:rPr sz="1600" dirty="0" err="1">
                <a:solidFill>
                  <a:srgbClr val="232832"/>
                </a:solidFill>
                <a:latin typeface="Amasis MT Pro" panose="02040504050005020304" pitchFamily="18" charset="0"/>
              </a:rPr>
              <a:t>DevKit</a:t>
            </a:r>
            <a:r>
              <a:rPr sz="1600" dirty="0">
                <a:solidFill>
                  <a:srgbClr val="232832"/>
                </a:solidFill>
                <a:latin typeface="Amasis MT Pro" panose="02040504050005020304" pitchFamily="18" charset="0"/>
              </a:rPr>
              <a:t>, USB Cable, Computer with Arduino IDE. No external sensors or components required.</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Encryption Detection: </a:t>
            </a:r>
            <a:r>
              <a:rPr sz="1600" dirty="0">
                <a:solidFill>
                  <a:srgbClr val="232832"/>
                </a:solidFill>
                <a:latin typeface="Amasis MT Pro" panose="02040504050005020304" pitchFamily="18" charset="0"/>
              </a:rPr>
              <a:t>Open, WEP, WPA, WPA2, WPA/WPA2, WPA2 Enterprise, WPA3.</a:t>
            </a:r>
          </a:p>
        </p:txBody>
      </p:sp>
      <p:sp>
        <p:nvSpPr>
          <p:cNvPr id="10" name="Rounded Rectangle 9"/>
          <p:cNvSpPr/>
          <p:nvPr/>
        </p:nvSpPr>
        <p:spPr>
          <a:xfrm>
            <a:off x="6528816" y="996696"/>
            <a:ext cx="5230368" cy="1904223"/>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lock_wifi.png"/>
          <p:cNvPicPr>
            <a:picLocks noChangeAspect="1"/>
          </p:cNvPicPr>
          <p:nvPr/>
        </p:nvPicPr>
        <p:blipFill>
          <a:blip r:embed="rId2"/>
          <a:stretch>
            <a:fillRect/>
          </a:stretch>
        </p:blipFill>
        <p:spPr>
          <a:xfrm>
            <a:off x="6583680" y="1051560"/>
            <a:ext cx="5120640" cy="179449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p:cNvSpPr txBox="1"/>
          <p:nvPr/>
        </p:nvSpPr>
        <p:spPr>
          <a:xfrm>
            <a:off x="6583680" y="2919207"/>
            <a:ext cx="5120640" cy="320040"/>
          </a:xfrm>
          <a:prstGeom prst="rect">
            <a:avLst/>
          </a:prstGeom>
          <a:noFill/>
        </p:spPr>
        <p:txBody>
          <a:bodyPr wrap="square">
            <a:spAutoFit/>
          </a:bodyPr>
          <a:lstStyle/>
          <a:p>
            <a:pPr algn="ctr">
              <a:defRPr sz="1100" b="0" i="1">
                <a:solidFill>
                  <a:srgbClr val="788291"/>
                </a:solidFill>
                <a:latin typeface="Segoe UI Light"/>
              </a:defRPr>
            </a:pPr>
            <a:r>
              <a:t>Fig 4.1 — Block Diagram: Wi-Fi APs → ESP32 (STA) → Serial</a:t>
            </a:r>
          </a:p>
        </p:txBody>
      </p:sp>
      <p:sp>
        <p:nvSpPr>
          <p:cNvPr id="13" name="Rounded Rectangle 12"/>
          <p:cNvSpPr/>
          <p:nvPr/>
        </p:nvSpPr>
        <p:spPr>
          <a:xfrm>
            <a:off x="6894576" y="3328416"/>
            <a:ext cx="4681728" cy="2459338"/>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wifi.jpeg"/>
          <p:cNvPicPr>
            <a:picLocks noChangeAspect="1"/>
          </p:cNvPicPr>
          <p:nvPr/>
        </p:nvPicPr>
        <p:blipFill>
          <a:blip r:embed="rId3"/>
          <a:stretch>
            <a:fillRect/>
          </a:stretch>
        </p:blipFill>
        <p:spPr>
          <a:xfrm>
            <a:off x="6949440" y="3383280"/>
            <a:ext cx="4572000" cy="234961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p:cNvSpPr txBox="1"/>
          <p:nvPr/>
        </p:nvSpPr>
        <p:spPr>
          <a:xfrm>
            <a:off x="6949440" y="5806042"/>
            <a:ext cx="4572000" cy="320040"/>
          </a:xfrm>
          <a:prstGeom prst="rect">
            <a:avLst/>
          </a:prstGeom>
          <a:noFill/>
        </p:spPr>
        <p:txBody>
          <a:bodyPr wrap="square">
            <a:spAutoFit/>
          </a:bodyPr>
          <a:lstStyle/>
          <a:p>
            <a:pPr algn="ctr">
              <a:defRPr sz="1100" b="0" i="1">
                <a:solidFill>
                  <a:srgbClr val="788291"/>
                </a:solidFill>
                <a:latin typeface="Segoe UI Light"/>
              </a:defRPr>
            </a:pPr>
            <a:r>
              <a:t>Fig 4.2 — Serial Monitor: 18 networks detected at IIT Guwahati</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4 — Code, Output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12</a:t>
            </a:r>
          </a:p>
        </p:txBody>
      </p:sp>
      <p:sp>
        <p:nvSpPr>
          <p:cNvPr id="9" name="Rounded Rectangle 8"/>
          <p:cNvSpPr/>
          <p:nvPr/>
        </p:nvSpPr>
        <p:spPr>
          <a:xfrm>
            <a:off x="457200" y="1051559"/>
            <a:ext cx="5486400" cy="4983479"/>
          </a:xfrm>
          <a:prstGeom prst="roundRect">
            <a:avLst/>
          </a:pr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5120640" cy="3886200"/>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t>#include &lt;WiFi.h&gt;</a:t>
            </a:r>
          </a:p>
          <a:p>
            <a:pPr>
              <a:lnSpc>
                <a:spcPts val="1500"/>
              </a:lnSpc>
              <a:spcAft>
                <a:spcPts val="200"/>
              </a:spcAft>
              <a:defRPr sz="1100">
                <a:solidFill>
                  <a:srgbClr val="BEEBC3"/>
                </a:solidFill>
                <a:latin typeface="Cascadia Code"/>
              </a:defRPr>
            </a:pPr>
            <a:endParaRPr/>
          </a:p>
          <a:p>
            <a:pPr>
              <a:lnSpc>
                <a:spcPts val="1500"/>
              </a:lnSpc>
              <a:spcAft>
                <a:spcPts val="200"/>
              </a:spcAft>
              <a:defRPr sz="1100">
                <a:solidFill>
                  <a:srgbClr val="BEEBC3"/>
                </a:solidFill>
                <a:latin typeface="Cascadia Code"/>
              </a:defRPr>
            </a:pPr>
            <a:r>
              <a:t>void setup() {</a:t>
            </a:r>
          </a:p>
          <a:p>
            <a:pPr>
              <a:lnSpc>
                <a:spcPts val="1500"/>
              </a:lnSpc>
              <a:spcAft>
                <a:spcPts val="200"/>
              </a:spcAft>
              <a:defRPr sz="1100">
                <a:solidFill>
                  <a:srgbClr val="BEEBC3"/>
                </a:solidFill>
                <a:latin typeface="Cascadia Code"/>
              </a:defRPr>
            </a:pPr>
            <a:r>
              <a:t>  Serial.begin(115200);</a:t>
            </a:r>
          </a:p>
          <a:p>
            <a:pPr>
              <a:lnSpc>
                <a:spcPts val="1500"/>
              </a:lnSpc>
              <a:spcAft>
                <a:spcPts val="200"/>
              </a:spcAft>
              <a:defRPr sz="1100">
                <a:solidFill>
                  <a:srgbClr val="BEEBC3"/>
                </a:solidFill>
                <a:latin typeface="Cascadia Code"/>
              </a:defRPr>
            </a:pPr>
            <a:r>
              <a:t>  WiFi.mode(WIFI_STA);</a:t>
            </a:r>
          </a:p>
          <a:p>
            <a:pPr>
              <a:lnSpc>
                <a:spcPts val="1500"/>
              </a:lnSpc>
              <a:spcAft>
                <a:spcPts val="200"/>
              </a:spcAft>
              <a:defRPr sz="1100">
                <a:solidFill>
                  <a:srgbClr val="BEEBC3"/>
                </a:solidFill>
                <a:latin typeface="Cascadia Code"/>
              </a:defRPr>
            </a:pPr>
            <a:r>
              <a:t>  WiFi.disconnect();</a:t>
            </a:r>
          </a:p>
          <a:p>
            <a:pPr>
              <a:lnSpc>
                <a:spcPts val="1500"/>
              </a:lnSpc>
              <a:spcAft>
                <a:spcPts val="200"/>
              </a:spcAft>
              <a:defRPr sz="1100">
                <a:solidFill>
                  <a:srgbClr val="BEEBC3"/>
                </a:solidFill>
                <a:latin typeface="Cascadia Code"/>
              </a:defRPr>
            </a:pPr>
            <a:r>
              <a:t>}</a:t>
            </a:r>
          </a:p>
          <a:p>
            <a:pPr>
              <a:lnSpc>
                <a:spcPts val="1500"/>
              </a:lnSpc>
              <a:spcAft>
                <a:spcPts val="200"/>
              </a:spcAft>
              <a:defRPr sz="1100">
                <a:solidFill>
                  <a:srgbClr val="BEEBC3"/>
                </a:solidFill>
                <a:latin typeface="Cascadia Code"/>
              </a:defRPr>
            </a:pPr>
            <a:endParaRPr/>
          </a:p>
          <a:p>
            <a:pPr>
              <a:lnSpc>
                <a:spcPts val="1500"/>
              </a:lnSpc>
              <a:spcAft>
                <a:spcPts val="200"/>
              </a:spcAft>
              <a:defRPr sz="1100">
                <a:solidFill>
                  <a:srgbClr val="BEEBC3"/>
                </a:solidFill>
                <a:latin typeface="Cascadia Code"/>
              </a:defRPr>
            </a:pPr>
            <a:r>
              <a:t>void loop() {</a:t>
            </a:r>
          </a:p>
          <a:p>
            <a:pPr>
              <a:lnSpc>
                <a:spcPts val="1500"/>
              </a:lnSpc>
              <a:spcAft>
                <a:spcPts val="200"/>
              </a:spcAft>
              <a:defRPr sz="1100">
                <a:solidFill>
                  <a:srgbClr val="BEEBC3"/>
                </a:solidFill>
                <a:latin typeface="Cascadia Code"/>
              </a:defRPr>
            </a:pPr>
            <a:r>
              <a:t>  int n = WiFi.scanNetworks();</a:t>
            </a:r>
          </a:p>
          <a:p>
            <a:pPr>
              <a:lnSpc>
                <a:spcPts val="1500"/>
              </a:lnSpc>
              <a:spcAft>
                <a:spcPts val="200"/>
              </a:spcAft>
              <a:defRPr sz="1100">
                <a:solidFill>
                  <a:srgbClr val="BEEBC3"/>
                </a:solidFill>
                <a:latin typeface="Cascadia Code"/>
              </a:defRPr>
            </a:pPr>
            <a:r>
              <a:t>  for (int i = 0; i &lt; n; i++) {</a:t>
            </a:r>
          </a:p>
          <a:p>
            <a:pPr>
              <a:lnSpc>
                <a:spcPts val="1500"/>
              </a:lnSpc>
              <a:spcAft>
                <a:spcPts val="200"/>
              </a:spcAft>
              <a:defRPr sz="1100">
                <a:solidFill>
                  <a:srgbClr val="BEEBC3"/>
                </a:solidFill>
                <a:latin typeface="Cascadia Code"/>
              </a:defRPr>
            </a:pPr>
            <a:r>
              <a:t>    Serial.print(WiFi.SSID(i));</a:t>
            </a:r>
          </a:p>
          <a:p>
            <a:pPr>
              <a:lnSpc>
                <a:spcPts val="1500"/>
              </a:lnSpc>
              <a:spcAft>
                <a:spcPts val="200"/>
              </a:spcAft>
              <a:defRPr sz="1100">
                <a:solidFill>
                  <a:srgbClr val="BEEBC3"/>
                </a:solidFill>
                <a:latin typeface="Cascadia Code"/>
              </a:defRPr>
            </a:pPr>
            <a:r>
              <a:t>    Serial.print(" | RSSI: ");</a:t>
            </a:r>
          </a:p>
          <a:p>
            <a:pPr>
              <a:lnSpc>
                <a:spcPts val="1500"/>
              </a:lnSpc>
              <a:spcAft>
                <a:spcPts val="200"/>
              </a:spcAft>
              <a:defRPr sz="1100">
                <a:solidFill>
                  <a:srgbClr val="BEEBC3"/>
                </a:solidFill>
                <a:latin typeface="Cascadia Code"/>
              </a:defRPr>
            </a:pPr>
            <a:r>
              <a:t>    Serial.print(WiFi.RSSI(i));</a:t>
            </a:r>
          </a:p>
          <a:p>
            <a:pPr>
              <a:lnSpc>
                <a:spcPts val="1500"/>
              </a:lnSpc>
              <a:spcAft>
                <a:spcPts val="200"/>
              </a:spcAft>
              <a:defRPr sz="1100">
                <a:solidFill>
                  <a:srgbClr val="BEEBC3"/>
                </a:solidFill>
                <a:latin typeface="Cascadia Code"/>
              </a:defRPr>
            </a:pPr>
            <a:r>
              <a:t>    Serial.print(" dBm | Ch: ");</a:t>
            </a:r>
          </a:p>
          <a:p>
            <a:pPr>
              <a:lnSpc>
                <a:spcPts val="1500"/>
              </a:lnSpc>
              <a:spcAft>
                <a:spcPts val="200"/>
              </a:spcAft>
              <a:defRPr sz="1100">
                <a:solidFill>
                  <a:srgbClr val="BEEBC3"/>
                </a:solidFill>
                <a:latin typeface="Cascadia Code"/>
              </a:defRPr>
            </a:pPr>
            <a:r>
              <a:t>    Serial.print(WiFi.channel(i));</a:t>
            </a:r>
          </a:p>
          <a:p>
            <a:pPr>
              <a:lnSpc>
                <a:spcPts val="1500"/>
              </a:lnSpc>
              <a:spcAft>
                <a:spcPts val="200"/>
              </a:spcAft>
              <a:defRPr sz="1100">
                <a:solidFill>
                  <a:srgbClr val="BEEBC3"/>
                </a:solidFill>
                <a:latin typeface="Cascadia Code"/>
              </a:defRPr>
            </a:pPr>
            <a:r>
              <a:t>    Serial.print(" | Enc: ");</a:t>
            </a:r>
          </a:p>
          <a:p>
            <a:pPr>
              <a:lnSpc>
                <a:spcPts val="1500"/>
              </a:lnSpc>
              <a:spcAft>
                <a:spcPts val="200"/>
              </a:spcAft>
              <a:defRPr sz="1100">
                <a:solidFill>
                  <a:srgbClr val="BEEBC3"/>
                </a:solidFill>
                <a:latin typeface="Cascadia Code"/>
              </a:defRPr>
            </a:pPr>
            <a:r>
              <a:t>    // switch-case for encryption type</a:t>
            </a:r>
          </a:p>
          <a:p>
            <a:pPr>
              <a:lnSpc>
                <a:spcPts val="1500"/>
              </a:lnSpc>
              <a:spcAft>
                <a:spcPts val="200"/>
              </a:spcAft>
              <a:defRPr sz="1100">
                <a:solidFill>
                  <a:srgbClr val="BEEBC3"/>
                </a:solidFill>
                <a:latin typeface="Cascadia Code"/>
              </a:defRPr>
            </a:pPr>
            <a:r>
              <a:t>  }</a:t>
            </a:r>
          </a:p>
          <a:p>
            <a:pPr>
              <a:lnSpc>
                <a:spcPts val="1500"/>
              </a:lnSpc>
              <a:spcAft>
                <a:spcPts val="200"/>
              </a:spcAft>
              <a:defRPr sz="1100">
                <a:solidFill>
                  <a:srgbClr val="BEEBC3"/>
                </a:solidFill>
                <a:latin typeface="Cascadia Code"/>
              </a:defRPr>
            </a:pPr>
            <a:r>
              <a:t>  delay(5000);  // scan every 5 seconds</a:t>
            </a:r>
          </a:p>
          <a:p>
            <a:pPr>
              <a:lnSpc>
                <a:spcPts val="1500"/>
              </a:lnSpc>
              <a:spcAft>
                <a:spcPts val="200"/>
              </a:spcAft>
              <a:defRPr sz="1100">
                <a:solidFill>
                  <a:srgbClr val="BEEBC3"/>
                </a:solidFill>
                <a:latin typeface="Cascadia Code"/>
              </a:defRPr>
            </a:pPr>
            <a:r>
              <a:t>}</a:t>
            </a:r>
          </a:p>
        </p:txBody>
      </p:sp>
      <p:sp>
        <p:nvSpPr>
          <p:cNvPr id="12" name="TextBox 11"/>
          <p:cNvSpPr txBox="1"/>
          <p:nvPr/>
        </p:nvSpPr>
        <p:spPr>
          <a:xfrm>
            <a:off x="427025" y="6014294"/>
            <a:ext cx="5486400" cy="274320"/>
          </a:xfrm>
          <a:prstGeom prst="rect">
            <a:avLst/>
          </a:prstGeom>
          <a:noFill/>
        </p:spPr>
        <p:txBody>
          <a:bodyPr wrap="square">
            <a:spAutoFit/>
          </a:bodyPr>
          <a:lstStyle/>
          <a:p>
            <a:pPr algn="ctr">
              <a:defRPr sz="1100" b="0" i="1">
                <a:solidFill>
                  <a:srgbClr val="788291"/>
                </a:solidFill>
                <a:latin typeface="Segoe UI Light"/>
              </a:defRPr>
            </a:pPr>
            <a:r>
              <a:rPr dirty="0"/>
              <a:t>Source Code — ESP32 Wi-Fi Scanner</a:t>
            </a:r>
          </a:p>
        </p:txBody>
      </p:sp>
      <p:sp>
        <p:nvSpPr>
          <p:cNvPr id="13" name="TextBox 12"/>
          <p:cNvSpPr txBox="1"/>
          <p:nvPr/>
        </p:nvSpPr>
        <p:spPr>
          <a:xfrm>
            <a:off x="6400800" y="1051560"/>
            <a:ext cx="5303520" cy="2716065"/>
          </a:xfrm>
          <a:prstGeom prst="rect">
            <a:avLst/>
          </a:prstGeom>
          <a:noFill/>
        </p:spPr>
        <p:txBody>
          <a:bodyPr wrap="square">
            <a:spAutoFit/>
          </a:bodyPr>
          <a:lstStyle/>
          <a:p>
            <a:pPr>
              <a:lnSpc>
                <a:spcPts val="1900"/>
              </a:lnSpc>
              <a:spcAft>
                <a:spcPts val="800"/>
              </a:spcAft>
            </a:pPr>
            <a:r>
              <a:rPr sz="1400" b="1" dirty="0">
                <a:solidFill>
                  <a:srgbClr val="0F284B"/>
                </a:solidFill>
                <a:latin typeface="Amasis MT Pro" panose="02040504050005020304" pitchFamily="18" charset="0"/>
              </a:rPr>
              <a:t>Observations: </a:t>
            </a:r>
            <a:r>
              <a:rPr sz="1400" dirty="0">
                <a:solidFill>
                  <a:srgbClr val="232832"/>
                </a:solidFill>
                <a:latin typeface="Amasis MT Pro" panose="02040504050005020304" pitchFamily="18" charset="0"/>
              </a:rPr>
              <a:t>Detected 18 networks at IIT Guwahati including IITG_CONNECT, </a:t>
            </a:r>
            <a:r>
              <a:rPr sz="1400" dirty="0" err="1">
                <a:solidFill>
                  <a:srgbClr val="232832"/>
                </a:solidFill>
                <a:latin typeface="Amasis MT Pro" panose="02040504050005020304" pitchFamily="18" charset="0"/>
              </a:rPr>
              <a:t>eduroam</a:t>
            </a:r>
            <a:r>
              <a:rPr sz="1400" dirty="0">
                <a:solidFill>
                  <a:srgbClr val="232832"/>
                </a:solidFill>
                <a:latin typeface="Amasis MT Pro" panose="02040504050005020304" pitchFamily="18" charset="0"/>
              </a:rPr>
              <a:t>, Conference, TIH-FF, and </a:t>
            </a:r>
            <a:r>
              <a:rPr sz="1400" dirty="0" err="1">
                <a:solidFill>
                  <a:srgbClr val="232832"/>
                </a:solidFill>
                <a:latin typeface="Amasis MT Pro" panose="02040504050005020304" pitchFamily="18" charset="0"/>
              </a:rPr>
              <a:t>IoT_AR</a:t>
            </a:r>
            <a:r>
              <a:rPr sz="1400" dirty="0">
                <a:solidFill>
                  <a:srgbClr val="232832"/>
                </a:solidFill>
                <a:latin typeface="Amasis MT Pro" panose="02040504050005020304" pitchFamily="18" charset="0"/>
              </a:rPr>
              <a:t>/</a:t>
            </a:r>
            <a:r>
              <a:rPr sz="1400" dirty="0" err="1">
                <a:solidFill>
                  <a:srgbClr val="232832"/>
                </a:solidFill>
                <a:latin typeface="Amasis MT Pro" panose="02040504050005020304" pitchFamily="18" charset="0"/>
              </a:rPr>
              <a:t>VR_Lab</a:t>
            </a:r>
            <a:r>
              <a:rPr sz="1400" dirty="0">
                <a:solidFill>
                  <a:srgbClr val="232832"/>
                </a:solidFill>
                <a:latin typeface="Amasis MT Pro" panose="02040504050005020304" pitchFamily="18" charset="0"/>
              </a:rPr>
              <a:t>. Signal strengths ranged from −56 dBm (strong) to −97 dBm (weak). Multiple encryption types identified.</a:t>
            </a:r>
          </a:p>
          <a:p>
            <a:pPr>
              <a:lnSpc>
                <a:spcPts val="1900"/>
              </a:lnSpc>
              <a:spcAft>
                <a:spcPts val="800"/>
              </a:spcAft>
            </a:pPr>
            <a:r>
              <a:rPr sz="1400" b="1" dirty="0">
                <a:solidFill>
                  <a:srgbClr val="0F284B"/>
                </a:solidFill>
                <a:latin typeface="Amasis MT Pro" panose="02040504050005020304" pitchFamily="18" charset="0"/>
              </a:rPr>
              <a:t>Result: </a:t>
            </a:r>
            <a:r>
              <a:rPr sz="1400" dirty="0">
                <a:solidFill>
                  <a:srgbClr val="232832"/>
                </a:solidFill>
                <a:latin typeface="Amasis MT Pro" panose="02040504050005020304" pitchFamily="18" charset="0"/>
              </a:rPr>
              <a:t>Successfully demonstrated passive Wi-Fi reconnaissance using ESP32's built-in radio without any external hardware. Scan repeats every 5 seconds.</a:t>
            </a:r>
          </a:p>
          <a:p>
            <a:pPr>
              <a:lnSpc>
                <a:spcPts val="1900"/>
              </a:lnSpc>
              <a:spcAft>
                <a:spcPts val="800"/>
              </a:spcAft>
            </a:pPr>
            <a:r>
              <a:rPr sz="1400" b="1" dirty="0">
                <a:solidFill>
                  <a:srgbClr val="0F284B"/>
                </a:solidFill>
                <a:latin typeface="Amasis MT Pro" panose="02040504050005020304" pitchFamily="18" charset="0"/>
              </a:rPr>
              <a:t>Key Learnings: </a:t>
            </a:r>
            <a:r>
              <a:rPr sz="1400" dirty="0">
                <a:solidFill>
                  <a:srgbClr val="232832"/>
                </a:solidFill>
                <a:latin typeface="Amasis MT Pro" panose="02040504050005020304" pitchFamily="18" charset="0"/>
              </a:rPr>
              <a:t>Wi-Fi STA mode, RSSI measurement, channel analysis, encryption type identification, continuous scanning patterns.</a:t>
            </a:r>
          </a:p>
        </p:txBody>
      </p:sp>
      <p:sp>
        <p:nvSpPr>
          <p:cNvPr id="14" name="Rounded Rectangle 13"/>
          <p:cNvSpPr/>
          <p:nvPr/>
        </p:nvSpPr>
        <p:spPr>
          <a:xfrm>
            <a:off x="6400800" y="3749039"/>
            <a:ext cx="5303520" cy="22860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3840480"/>
            <a:ext cx="4754880" cy="320040"/>
          </a:xfrm>
          <a:prstGeom prst="rect">
            <a:avLst/>
          </a:prstGeom>
          <a:noFill/>
        </p:spPr>
        <p:txBody>
          <a:bodyPr wrap="square">
            <a:spAutoFit/>
          </a:bodyPr>
          <a:lstStyle/>
          <a:p>
            <a:pPr algn="l">
              <a:defRPr sz="1600" b="1" i="0">
                <a:solidFill>
                  <a:srgbClr val="0F284B"/>
                </a:solidFill>
                <a:latin typeface="Segoe UI Semibold"/>
              </a:defRPr>
            </a:pPr>
            <a:r>
              <a:rPr dirty="0"/>
              <a:t>Applications</a:t>
            </a:r>
          </a:p>
        </p:txBody>
      </p:sp>
      <p:sp>
        <p:nvSpPr>
          <p:cNvPr id="17" name="TextBox 16"/>
          <p:cNvSpPr txBox="1"/>
          <p:nvPr/>
        </p:nvSpPr>
        <p:spPr>
          <a:xfrm>
            <a:off x="6675120" y="4206240"/>
            <a:ext cx="4754880" cy="1737360"/>
          </a:xfrm>
          <a:prstGeom prst="rect">
            <a:avLst/>
          </a:prstGeom>
          <a:noFill/>
        </p:spPr>
        <p:txBody>
          <a:bodyPr wrap="square">
            <a:spAutoFit/>
          </a:bodyPr>
          <a:lstStyle/>
          <a:p>
            <a:pPr>
              <a:lnSpc>
                <a:spcPts val="1800"/>
              </a:lnSpc>
              <a:spcAft>
                <a:spcPts val="600"/>
              </a:spcAft>
            </a:pPr>
            <a:r>
              <a:rPr sz="1300" dirty="0">
                <a:solidFill>
                  <a:srgbClr val="46505F"/>
                </a:solidFill>
                <a:latin typeface="Segoe UI"/>
              </a:rPr>
              <a:t>✦  Wi-Fi site survey &amp; coverage analysis</a:t>
            </a:r>
          </a:p>
          <a:p>
            <a:pPr>
              <a:lnSpc>
                <a:spcPts val="1800"/>
              </a:lnSpc>
              <a:spcAft>
                <a:spcPts val="600"/>
              </a:spcAft>
            </a:pPr>
            <a:r>
              <a:rPr sz="1300" dirty="0">
                <a:solidFill>
                  <a:srgbClr val="46505F"/>
                </a:solidFill>
                <a:latin typeface="Segoe UI"/>
              </a:rPr>
              <a:t>✦  Network security auditing</a:t>
            </a:r>
          </a:p>
          <a:p>
            <a:pPr>
              <a:lnSpc>
                <a:spcPts val="1800"/>
              </a:lnSpc>
              <a:spcAft>
                <a:spcPts val="600"/>
              </a:spcAft>
            </a:pPr>
            <a:r>
              <a:rPr sz="1300" dirty="0">
                <a:solidFill>
                  <a:srgbClr val="46505F"/>
                </a:solidFill>
                <a:latin typeface="Segoe UI"/>
              </a:rPr>
              <a:t>✦  Smart home device setup assistance</a:t>
            </a:r>
          </a:p>
          <a:p>
            <a:pPr>
              <a:lnSpc>
                <a:spcPts val="1800"/>
              </a:lnSpc>
              <a:spcAft>
                <a:spcPts val="600"/>
              </a:spcAft>
            </a:pPr>
            <a:r>
              <a:rPr sz="1300" dirty="0">
                <a:solidFill>
                  <a:srgbClr val="46505F"/>
                </a:solidFill>
                <a:latin typeface="Segoe UI"/>
              </a:rPr>
              <a:t>✦  Signal strength mapping for IoT deployment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5 — Cloud Data Logging with Firebase RTDB</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13</a:t>
            </a:r>
          </a:p>
        </p:txBody>
      </p:sp>
      <p:sp>
        <p:nvSpPr>
          <p:cNvPr id="9" name="TextBox 8"/>
          <p:cNvSpPr txBox="1"/>
          <p:nvPr/>
        </p:nvSpPr>
        <p:spPr>
          <a:xfrm>
            <a:off x="457200" y="1051560"/>
            <a:ext cx="5638800" cy="3531351"/>
          </a:xfrm>
          <a:prstGeom prst="rect">
            <a:avLst/>
          </a:prstGeom>
          <a:noFill/>
        </p:spPr>
        <p:txBody>
          <a:bodyPr wrap="square">
            <a:spAutoFit/>
          </a:bodyPr>
          <a:lstStyle/>
          <a:p>
            <a:pPr>
              <a:lnSpc>
                <a:spcPts val="2000"/>
              </a:lnSpc>
              <a:spcAft>
                <a:spcPts val="1000"/>
              </a:spcAft>
            </a:pPr>
            <a:r>
              <a:rPr sz="1600" b="1" dirty="0">
                <a:solidFill>
                  <a:srgbClr val="0F284B"/>
                </a:solidFill>
                <a:latin typeface="Amasis MT Pro" panose="02040504050005020304" pitchFamily="18" charset="0"/>
              </a:rPr>
              <a:t>▸  Objective: </a:t>
            </a:r>
            <a:r>
              <a:rPr sz="1600" dirty="0">
                <a:solidFill>
                  <a:srgbClr val="232832"/>
                </a:solidFill>
                <a:latin typeface="Amasis MT Pro" panose="02040504050005020304" pitchFamily="18" charset="0"/>
              </a:rPr>
              <a:t>Read DHT11 sensor data on ESP32, connect to Wi-Fi, authenticate with Firebase, and upload temperature and humidity values to Firebase Realtime Database in real-time.</a:t>
            </a:r>
          </a:p>
          <a:p>
            <a:pPr>
              <a:lnSpc>
                <a:spcPts val="2000"/>
              </a:lnSpc>
              <a:spcAft>
                <a:spcPts val="1000"/>
              </a:spcAft>
            </a:pPr>
            <a:r>
              <a:rPr sz="1600" b="1" dirty="0">
                <a:solidFill>
                  <a:srgbClr val="0F284B"/>
                </a:solidFill>
                <a:latin typeface="Amasis MT Pro" panose="02040504050005020304" pitchFamily="18" charset="0"/>
              </a:rPr>
              <a:t>▸  Working Principle: </a:t>
            </a:r>
            <a:r>
              <a:rPr sz="1600" dirty="0">
                <a:solidFill>
                  <a:srgbClr val="232832"/>
                </a:solidFill>
                <a:latin typeface="Amasis MT Pro" panose="02040504050005020304" pitchFamily="18" charset="0"/>
              </a:rPr>
              <a:t>The ESP32 connects to Wi-Fi, then authenticates with Firebase using an API key and user credentials. Every 10 seconds, it reads the DHT11 sensor and uses </a:t>
            </a:r>
            <a:r>
              <a:rPr sz="1600" dirty="0" err="1">
                <a:solidFill>
                  <a:srgbClr val="232832"/>
                </a:solidFill>
                <a:latin typeface="Amasis MT Pro" panose="02040504050005020304" pitchFamily="18" charset="0"/>
              </a:rPr>
              <a:t>Firebase.RTDB.setFloat</a:t>
            </a:r>
            <a:r>
              <a:rPr sz="1600" dirty="0">
                <a:solidFill>
                  <a:srgbClr val="232832"/>
                </a:solidFill>
                <a:latin typeface="Amasis MT Pro" panose="02040504050005020304" pitchFamily="18" charset="0"/>
              </a:rPr>
              <a:t>() to push values to the /DHT11/ path in the cloud database.</a:t>
            </a:r>
          </a:p>
          <a:p>
            <a:pPr>
              <a:lnSpc>
                <a:spcPts val="2000"/>
              </a:lnSpc>
              <a:spcAft>
                <a:spcPts val="1000"/>
              </a:spcAft>
            </a:pPr>
            <a:r>
              <a:rPr sz="1600" b="1" dirty="0">
                <a:solidFill>
                  <a:srgbClr val="0F284B"/>
                </a:solidFill>
                <a:latin typeface="Amasis MT Pro" panose="02040504050005020304" pitchFamily="18" charset="0"/>
              </a:rPr>
              <a:t>▸  Components: </a:t>
            </a:r>
            <a:r>
              <a:rPr sz="1600" dirty="0">
                <a:solidFill>
                  <a:srgbClr val="232832"/>
                </a:solidFill>
                <a:latin typeface="Amasis MT Pro" panose="02040504050005020304" pitchFamily="18" charset="0"/>
              </a:rPr>
              <a:t>ESP32 </a:t>
            </a:r>
            <a:r>
              <a:rPr sz="1600" dirty="0" err="1">
                <a:solidFill>
                  <a:srgbClr val="232832"/>
                </a:solidFill>
                <a:latin typeface="Amasis MT Pro" panose="02040504050005020304" pitchFamily="18" charset="0"/>
              </a:rPr>
              <a:t>DevKit</a:t>
            </a:r>
            <a:r>
              <a:rPr sz="1600" dirty="0">
                <a:solidFill>
                  <a:srgbClr val="232832"/>
                </a:solidFill>
                <a:latin typeface="Amasis MT Pro" panose="02040504050005020304" pitchFamily="18" charset="0"/>
              </a:rPr>
              <a:t>, DHT11 Sensor (GPIO 16), Wi-Fi Network, Firebase Project (Realtime Database).</a:t>
            </a:r>
          </a:p>
          <a:p>
            <a:pPr>
              <a:lnSpc>
                <a:spcPts val="2000"/>
              </a:lnSpc>
              <a:spcAft>
                <a:spcPts val="1000"/>
              </a:spcAft>
            </a:pPr>
            <a:r>
              <a:rPr sz="1600" b="1" dirty="0">
                <a:solidFill>
                  <a:srgbClr val="0F284B"/>
                </a:solidFill>
                <a:latin typeface="Amasis MT Pro" panose="02040504050005020304" pitchFamily="18" charset="0"/>
              </a:rPr>
              <a:t>▸  Libraries: </a:t>
            </a:r>
            <a:r>
              <a:rPr sz="1600" dirty="0" err="1">
                <a:solidFill>
                  <a:srgbClr val="232832"/>
                </a:solidFill>
                <a:latin typeface="Amasis MT Pro" panose="02040504050005020304" pitchFamily="18" charset="0"/>
              </a:rPr>
              <a:t>WiFi.h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Firebase_ESP_Client.h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DHT.h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TokenHelper.h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RTDBHelper.h</a:t>
            </a:r>
            <a:r>
              <a:rPr sz="1600" dirty="0">
                <a:solidFill>
                  <a:srgbClr val="232832"/>
                </a:solidFill>
                <a:latin typeface="Amasis MT Pro" panose="02040504050005020304" pitchFamily="18" charset="0"/>
              </a:rPr>
              <a:t>.</a:t>
            </a:r>
          </a:p>
        </p:txBody>
      </p:sp>
      <p:sp>
        <p:nvSpPr>
          <p:cNvPr id="10" name="Rounded Rectangle 9"/>
          <p:cNvSpPr/>
          <p:nvPr/>
        </p:nvSpPr>
        <p:spPr>
          <a:xfrm>
            <a:off x="6528816" y="996696"/>
            <a:ext cx="5230368" cy="1653737"/>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lock_firebase.png"/>
          <p:cNvPicPr>
            <a:picLocks noChangeAspect="1"/>
          </p:cNvPicPr>
          <p:nvPr/>
        </p:nvPicPr>
        <p:blipFill>
          <a:blip r:embed="rId2"/>
          <a:stretch>
            <a:fillRect/>
          </a:stretch>
        </p:blipFill>
        <p:spPr>
          <a:xfrm>
            <a:off x="6583680" y="1051560"/>
            <a:ext cx="5120640" cy="15440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p:cNvSpPr txBox="1"/>
          <p:nvPr/>
        </p:nvSpPr>
        <p:spPr>
          <a:xfrm>
            <a:off x="6583680" y="2668721"/>
            <a:ext cx="5120640" cy="320040"/>
          </a:xfrm>
          <a:prstGeom prst="rect">
            <a:avLst/>
          </a:prstGeom>
          <a:noFill/>
        </p:spPr>
        <p:txBody>
          <a:bodyPr wrap="square">
            <a:spAutoFit/>
          </a:bodyPr>
          <a:lstStyle/>
          <a:p>
            <a:pPr algn="ctr">
              <a:defRPr sz="1100" b="0" i="1">
                <a:solidFill>
                  <a:srgbClr val="788291"/>
                </a:solidFill>
                <a:latin typeface="Segoe UI Light"/>
              </a:defRPr>
            </a:pPr>
            <a:r>
              <a:t>Fig 5.1 — Architecture: DHT11 → ESP32 → Wi-Fi → Firebase Cloud</a:t>
            </a:r>
          </a:p>
        </p:txBody>
      </p:sp>
      <p:sp>
        <p:nvSpPr>
          <p:cNvPr id="13" name="Rounded Rectangle 12"/>
          <p:cNvSpPr/>
          <p:nvPr/>
        </p:nvSpPr>
        <p:spPr>
          <a:xfrm>
            <a:off x="6894576" y="3328416"/>
            <a:ext cx="4681728" cy="1218861"/>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expfirebase.jpeg"/>
          <p:cNvPicPr>
            <a:picLocks noChangeAspect="1"/>
          </p:cNvPicPr>
          <p:nvPr/>
        </p:nvPicPr>
        <p:blipFill>
          <a:blip r:embed="rId3"/>
          <a:stretch>
            <a:fillRect/>
          </a:stretch>
        </p:blipFill>
        <p:spPr>
          <a:xfrm>
            <a:off x="6949440" y="3383280"/>
            <a:ext cx="4572000" cy="110913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5" name="TextBox 14"/>
          <p:cNvSpPr txBox="1"/>
          <p:nvPr/>
        </p:nvSpPr>
        <p:spPr>
          <a:xfrm>
            <a:off x="6949440" y="4565565"/>
            <a:ext cx="4572000" cy="320040"/>
          </a:xfrm>
          <a:prstGeom prst="rect">
            <a:avLst/>
          </a:prstGeom>
          <a:noFill/>
        </p:spPr>
        <p:txBody>
          <a:bodyPr wrap="square">
            <a:spAutoFit/>
          </a:bodyPr>
          <a:lstStyle/>
          <a:p>
            <a:pPr algn="ctr">
              <a:defRPr sz="1100" b="0" i="1">
                <a:solidFill>
                  <a:srgbClr val="788291"/>
                </a:solidFill>
                <a:latin typeface="Segoe UI Light"/>
              </a:defRPr>
            </a:pPr>
            <a:r>
              <a:t>Fig 5.2 — Serial Monitor: Firebase upload confirmation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5 — Code, Output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14</a:t>
            </a:r>
          </a:p>
        </p:txBody>
      </p:sp>
      <p:sp>
        <p:nvSpPr>
          <p:cNvPr id="9" name="Rounded Rectangle 8"/>
          <p:cNvSpPr/>
          <p:nvPr/>
        </p:nvSpPr>
        <p:spPr>
          <a:xfrm>
            <a:off x="457200" y="1051560"/>
            <a:ext cx="5486400" cy="4754880"/>
          </a:xfrm>
          <a:prstGeom prst="roundRect">
            <a:avLst/>
          </a:pr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5120640" cy="3886200"/>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rPr dirty="0"/>
              <a:t>#include &lt;</a:t>
            </a:r>
            <a:r>
              <a:rPr dirty="0" err="1"/>
              <a:t>WiFi.h</a:t>
            </a:r>
            <a:r>
              <a:rPr dirty="0"/>
              <a:t>&gt;</a:t>
            </a:r>
          </a:p>
          <a:p>
            <a:pPr>
              <a:lnSpc>
                <a:spcPts val="1500"/>
              </a:lnSpc>
              <a:spcAft>
                <a:spcPts val="200"/>
              </a:spcAft>
              <a:defRPr sz="1100">
                <a:solidFill>
                  <a:srgbClr val="BEEBC3"/>
                </a:solidFill>
                <a:latin typeface="Cascadia Code"/>
              </a:defRPr>
            </a:pPr>
            <a:r>
              <a:rPr dirty="0"/>
              <a:t>#include &lt;</a:t>
            </a:r>
            <a:r>
              <a:rPr dirty="0" err="1"/>
              <a:t>Firebase_ESP_Client.h</a:t>
            </a:r>
            <a:r>
              <a:rPr dirty="0"/>
              <a:t>&gt;</a:t>
            </a:r>
          </a:p>
          <a:p>
            <a:pPr>
              <a:lnSpc>
                <a:spcPts val="1500"/>
              </a:lnSpc>
              <a:spcAft>
                <a:spcPts val="200"/>
              </a:spcAft>
              <a:defRPr sz="1100">
                <a:solidFill>
                  <a:srgbClr val="BEEBC3"/>
                </a:solidFill>
                <a:latin typeface="Cascadia Code"/>
              </a:defRPr>
            </a:pPr>
            <a:r>
              <a:rPr dirty="0"/>
              <a:t>#include &lt;</a:t>
            </a:r>
            <a:r>
              <a:rPr dirty="0" err="1"/>
              <a:t>DHT.h</a:t>
            </a:r>
            <a:r>
              <a:rPr dirty="0"/>
              <a:t>&gt;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 </a:t>
            </a:r>
            <a:r>
              <a:rPr dirty="0" err="1"/>
              <a:t>WiFi</a:t>
            </a:r>
            <a:r>
              <a:rPr dirty="0"/>
              <a:t> &amp; Firebase credentials configured</a:t>
            </a:r>
          </a:p>
          <a:p>
            <a:pPr>
              <a:lnSpc>
                <a:spcPts val="1500"/>
              </a:lnSpc>
              <a:spcAft>
                <a:spcPts val="200"/>
              </a:spcAft>
              <a:defRPr sz="1100">
                <a:solidFill>
                  <a:srgbClr val="BEEBC3"/>
                </a:solidFill>
                <a:latin typeface="Cascadia Code"/>
              </a:defRPr>
            </a:pPr>
            <a:r>
              <a:rPr dirty="0" err="1"/>
              <a:t>FirebaseData</a:t>
            </a:r>
            <a:r>
              <a:rPr dirty="0"/>
              <a:t> </a:t>
            </a:r>
            <a:r>
              <a:rPr dirty="0" err="1"/>
              <a:t>fbdo</a:t>
            </a:r>
            <a:r>
              <a:rPr dirty="0"/>
              <a: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loop() {</a:t>
            </a:r>
          </a:p>
          <a:p>
            <a:pPr>
              <a:lnSpc>
                <a:spcPts val="1500"/>
              </a:lnSpc>
              <a:spcAft>
                <a:spcPts val="200"/>
              </a:spcAft>
              <a:defRPr sz="1100">
                <a:solidFill>
                  <a:srgbClr val="BEEBC3"/>
                </a:solidFill>
                <a:latin typeface="Cascadia Code"/>
              </a:defRPr>
            </a:pPr>
            <a:r>
              <a:rPr dirty="0"/>
              <a:t>  if (</a:t>
            </a:r>
            <a:r>
              <a:rPr dirty="0" err="1"/>
              <a:t>Firebase.ready</a:t>
            </a:r>
            <a:r>
              <a:rPr dirty="0"/>
              <a:t>() &amp;&amp; </a:t>
            </a:r>
            <a:r>
              <a:rPr dirty="0" err="1"/>
              <a:t>signupOK</a:t>
            </a:r>
            <a:r>
              <a:rPr dirty="0"/>
              <a:t> &amp;&amp;</a:t>
            </a:r>
          </a:p>
          <a:p>
            <a:pPr>
              <a:lnSpc>
                <a:spcPts val="1500"/>
              </a:lnSpc>
              <a:spcAft>
                <a:spcPts val="200"/>
              </a:spcAft>
              <a:defRPr sz="1100">
                <a:solidFill>
                  <a:srgbClr val="BEEBC3"/>
                </a:solidFill>
                <a:latin typeface="Cascadia Code"/>
              </a:defRPr>
            </a:pPr>
            <a:r>
              <a:rPr dirty="0"/>
              <a:t>      (</a:t>
            </a:r>
            <a:r>
              <a:rPr dirty="0" err="1"/>
              <a:t>millis</a:t>
            </a:r>
            <a:r>
              <a:rPr dirty="0"/>
              <a:t>() - </a:t>
            </a:r>
            <a:r>
              <a:rPr dirty="0" err="1"/>
              <a:t>prevMillis</a:t>
            </a:r>
            <a:r>
              <a:rPr dirty="0"/>
              <a:t> &gt; 10000)) {</a:t>
            </a:r>
          </a:p>
          <a:p>
            <a:pPr>
              <a:lnSpc>
                <a:spcPts val="1500"/>
              </a:lnSpc>
              <a:spcAft>
                <a:spcPts val="200"/>
              </a:spcAft>
              <a:defRPr sz="1100">
                <a:solidFill>
                  <a:srgbClr val="BEEBC3"/>
                </a:solidFill>
                <a:latin typeface="Cascadia Code"/>
              </a:defRPr>
            </a:pPr>
            <a:r>
              <a:rPr dirty="0"/>
              <a:t>    </a:t>
            </a:r>
            <a:r>
              <a:rPr dirty="0" err="1"/>
              <a:t>prevMillis</a:t>
            </a:r>
            <a:r>
              <a:rPr dirty="0"/>
              <a:t> = </a:t>
            </a:r>
            <a:r>
              <a:rPr dirty="0" err="1"/>
              <a:t>millis</a:t>
            </a:r>
            <a:r>
              <a:rPr dirty="0"/>
              <a:t>();</a:t>
            </a:r>
          </a:p>
          <a:p>
            <a:pPr>
              <a:lnSpc>
                <a:spcPts val="1500"/>
              </a:lnSpc>
              <a:spcAft>
                <a:spcPts val="200"/>
              </a:spcAft>
              <a:defRPr sz="1100">
                <a:solidFill>
                  <a:srgbClr val="BEEBC3"/>
                </a:solidFill>
                <a:latin typeface="Cascadia Code"/>
              </a:defRPr>
            </a:pPr>
            <a:r>
              <a:rPr dirty="0"/>
              <a:t>    float temp = </a:t>
            </a:r>
            <a:r>
              <a:rPr dirty="0" err="1"/>
              <a:t>dht.readTemperature</a:t>
            </a:r>
            <a:r>
              <a:rPr dirty="0"/>
              <a:t>();</a:t>
            </a:r>
          </a:p>
          <a:p>
            <a:pPr>
              <a:lnSpc>
                <a:spcPts val="1500"/>
              </a:lnSpc>
              <a:spcAft>
                <a:spcPts val="200"/>
              </a:spcAft>
              <a:defRPr sz="1100">
                <a:solidFill>
                  <a:srgbClr val="BEEBC3"/>
                </a:solidFill>
                <a:latin typeface="Cascadia Code"/>
              </a:defRPr>
            </a:pPr>
            <a:r>
              <a:rPr dirty="0"/>
              <a:t>    float hum  = </a:t>
            </a:r>
            <a:r>
              <a:rPr dirty="0" err="1"/>
              <a:t>dht.readHumidity</a:t>
            </a:r>
            <a:r>
              <a:rPr dirty="0"/>
              <a: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    </a:t>
            </a:r>
            <a:r>
              <a:rPr dirty="0" err="1"/>
              <a:t>Firebase.RTDB.setFloat</a:t>
            </a:r>
            <a:r>
              <a:rPr dirty="0"/>
              <a:t>(&amp;</a:t>
            </a:r>
            <a:r>
              <a:rPr dirty="0" err="1"/>
              <a:t>fbdo</a:t>
            </a:r>
            <a:r>
              <a:rPr dirty="0"/>
              <a:t>,</a:t>
            </a:r>
          </a:p>
          <a:p>
            <a:pPr>
              <a:lnSpc>
                <a:spcPts val="1500"/>
              </a:lnSpc>
              <a:spcAft>
                <a:spcPts val="200"/>
              </a:spcAft>
              <a:defRPr sz="1100">
                <a:solidFill>
                  <a:srgbClr val="BEEBC3"/>
                </a:solidFill>
                <a:latin typeface="Cascadia Code"/>
              </a:defRPr>
            </a:pPr>
            <a:r>
              <a:rPr dirty="0"/>
              <a:t>      "/DHT11/Temperature", temp);</a:t>
            </a:r>
          </a:p>
          <a:p>
            <a:pPr>
              <a:lnSpc>
                <a:spcPts val="1500"/>
              </a:lnSpc>
              <a:spcAft>
                <a:spcPts val="200"/>
              </a:spcAft>
              <a:defRPr sz="1100">
                <a:solidFill>
                  <a:srgbClr val="BEEBC3"/>
                </a:solidFill>
                <a:latin typeface="Cascadia Code"/>
              </a:defRPr>
            </a:pPr>
            <a:r>
              <a:rPr dirty="0"/>
              <a:t>    </a:t>
            </a:r>
            <a:r>
              <a:rPr dirty="0" err="1"/>
              <a:t>Firebase.RTDB.setFloat</a:t>
            </a:r>
            <a:r>
              <a:rPr dirty="0"/>
              <a:t>(&amp;</a:t>
            </a:r>
            <a:r>
              <a:rPr dirty="0" err="1"/>
              <a:t>fbdo</a:t>
            </a:r>
            <a:r>
              <a:rPr dirty="0"/>
              <a:t>,</a:t>
            </a:r>
          </a:p>
          <a:p>
            <a:pPr>
              <a:lnSpc>
                <a:spcPts val="1500"/>
              </a:lnSpc>
              <a:spcAft>
                <a:spcPts val="200"/>
              </a:spcAft>
              <a:defRPr sz="1100">
                <a:solidFill>
                  <a:srgbClr val="BEEBC3"/>
                </a:solidFill>
                <a:latin typeface="Cascadia Code"/>
              </a:defRPr>
            </a:pPr>
            <a:r>
              <a:rPr dirty="0"/>
              <a:t>      "/DHT11/Humidity", hum);</a:t>
            </a:r>
          </a:p>
          <a:p>
            <a:pPr>
              <a:lnSpc>
                <a:spcPts val="1500"/>
              </a:lnSpc>
              <a:spcAft>
                <a:spcPts val="200"/>
              </a:spcAft>
              <a:defRPr sz="1100">
                <a:solidFill>
                  <a:srgbClr val="BEEBC3"/>
                </a:solidFill>
                <a:latin typeface="Cascadia Code"/>
              </a:defRPr>
            </a:pPr>
            <a:r>
              <a:rPr dirty="0"/>
              <a:t>  }</a:t>
            </a:r>
          </a:p>
          <a:p>
            <a:pPr>
              <a:lnSpc>
                <a:spcPts val="1500"/>
              </a:lnSpc>
              <a:spcAft>
                <a:spcPts val="200"/>
              </a:spcAft>
              <a:defRPr sz="1100">
                <a:solidFill>
                  <a:srgbClr val="BEEBC3"/>
                </a:solidFill>
                <a:latin typeface="Cascadia Code"/>
              </a:defRPr>
            </a:pPr>
            <a:r>
              <a:rPr dirty="0"/>
              <a:t>}</a:t>
            </a:r>
          </a:p>
        </p:txBody>
      </p:sp>
      <p:sp>
        <p:nvSpPr>
          <p:cNvPr id="12" name="TextBox 11"/>
          <p:cNvSpPr txBox="1"/>
          <p:nvPr/>
        </p:nvSpPr>
        <p:spPr>
          <a:xfrm>
            <a:off x="304801" y="5924230"/>
            <a:ext cx="5486400" cy="274320"/>
          </a:xfrm>
          <a:prstGeom prst="rect">
            <a:avLst/>
          </a:prstGeom>
          <a:noFill/>
        </p:spPr>
        <p:txBody>
          <a:bodyPr wrap="square">
            <a:spAutoFit/>
          </a:bodyPr>
          <a:lstStyle/>
          <a:p>
            <a:pPr algn="ctr">
              <a:defRPr sz="1100" b="0" i="1">
                <a:solidFill>
                  <a:srgbClr val="788291"/>
                </a:solidFill>
                <a:latin typeface="Segoe UI Light"/>
              </a:defRPr>
            </a:pPr>
            <a:r>
              <a:rPr dirty="0"/>
              <a:t>Source Code — Firebase RTDB Upload (Key Sections)</a:t>
            </a:r>
          </a:p>
        </p:txBody>
      </p:sp>
      <p:sp>
        <p:nvSpPr>
          <p:cNvPr id="13" name="TextBox 12"/>
          <p:cNvSpPr txBox="1"/>
          <p:nvPr/>
        </p:nvSpPr>
        <p:spPr>
          <a:xfrm>
            <a:off x="6400800" y="1051560"/>
            <a:ext cx="5303520" cy="2710935"/>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Observations: </a:t>
            </a:r>
            <a:r>
              <a:rPr sz="1400" dirty="0">
                <a:solidFill>
                  <a:srgbClr val="232832"/>
                </a:solidFill>
                <a:latin typeface="Amasis MT Pro" panose="02040504050005020304" pitchFamily="18" charset="0"/>
              </a:rPr>
              <a:t>The ESP32 successfully connects to Wi-Fi, authenticates with Firebase, and uploads data every 10 seconds. Serial Monitor confirms 'Temperature Uploaded' and 'Humidity Uploaded'. Humidity reading: 73.00%.</a:t>
            </a:r>
          </a:p>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Result: </a:t>
            </a:r>
            <a:r>
              <a:rPr sz="1400" dirty="0">
                <a:solidFill>
                  <a:srgbClr val="232832"/>
                </a:solidFill>
                <a:latin typeface="Amasis MT Pro" panose="02040504050005020304" pitchFamily="18" charset="0"/>
              </a:rPr>
              <a:t>Real-time sensor data available in Firebase Realtime Database console, accessible from any device worldwide via the internet.</a:t>
            </a:r>
          </a:p>
          <a:p>
            <a:pPr marL="285750" indent="-285750">
              <a:lnSpc>
                <a:spcPts val="1900"/>
              </a:lnSpc>
              <a:spcAft>
                <a:spcPts val="800"/>
              </a:spcAft>
              <a:buFont typeface="Arial" panose="020B0604020202020204" pitchFamily="34" charset="0"/>
              <a:buChar char="•"/>
            </a:pPr>
            <a:r>
              <a:rPr sz="1400" b="1" dirty="0">
                <a:solidFill>
                  <a:srgbClr val="0F284B"/>
                </a:solidFill>
                <a:latin typeface="Amasis MT Pro" panose="02040504050005020304" pitchFamily="18" charset="0"/>
              </a:rPr>
              <a:t>Key Learnings: </a:t>
            </a:r>
            <a:r>
              <a:rPr sz="1400" dirty="0">
                <a:solidFill>
                  <a:srgbClr val="232832"/>
                </a:solidFill>
                <a:latin typeface="Amasis MT Pro" panose="02040504050005020304" pitchFamily="18" charset="0"/>
              </a:rPr>
              <a:t>Firebase authentication flow, RTDB write operations, non-blocking timer using </a:t>
            </a:r>
            <a:r>
              <a:rPr sz="1400" dirty="0" err="1">
                <a:solidFill>
                  <a:srgbClr val="232832"/>
                </a:solidFill>
                <a:latin typeface="Amasis MT Pro" panose="02040504050005020304" pitchFamily="18" charset="0"/>
              </a:rPr>
              <a:t>millis</a:t>
            </a:r>
            <a:r>
              <a:rPr sz="1400" dirty="0">
                <a:solidFill>
                  <a:srgbClr val="232832"/>
                </a:solidFill>
                <a:latin typeface="Amasis MT Pro" panose="02040504050005020304" pitchFamily="18" charset="0"/>
              </a:rPr>
              <a:t>(), error handling for cloud uploads.</a:t>
            </a:r>
          </a:p>
        </p:txBody>
      </p:sp>
      <p:sp>
        <p:nvSpPr>
          <p:cNvPr id="14" name="Rounded Rectangle 13"/>
          <p:cNvSpPr/>
          <p:nvPr/>
        </p:nvSpPr>
        <p:spPr>
          <a:xfrm>
            <a:off x="6400800" y="3749039"/>
            <a:ext cx="5303520" cy="2286000"/>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3840480"/>
            <a:ext cx="4754880" cy="320040"/>
          </a:xfrm>
          <a:prstGeom prst="rect">
            <a:avLst/>
          </a:prstGeom>
          <a:noFill/>
        </p:spPr>
        <p:txBody>
          <a:bodyPr wrap="square">
            <a:spAutoFit/>
          </a:bodyPr>
          <a:lstStyle/>
          <a:p>
            <a:pPr algn="l">
              <a:defRPr sz="1600" b="1" i="0">
                <a:solidFill>
                  <a:srgbClr val="0F284B"/>
                </a:solidFill>
                <a:latin typeface="Segoe UI Semibold"/>
              </a:defRPr>
            </a:pPr>
            <a:r>
              <a:t>Applications</a:t>
            </a:r>
          </a:p>
        </p:txBody>
      </p:sp>
      <p:sp>
        <p:nvSpPr>
          <p:cNvPr id="17" name="TextBox 16"/>
          <p:cNvSpPr txBox="1"/>
          <p:nvPr/>
        </p:nvSpPr>
        <p:spPr>
          <a:xfrm>
            <a:off x="6675120" y="4206240"/>
            <a:ext cx="4754880" cy="1737360"/>
          </a:xfrm>
          <a:prstGeom prst="rect">
            <a:avLst/>
          </a:prstGeom>
          <a:noFill/>
        </p:spPr>
        <p:txBody>
          <a:bodyPr wrap="square">
            <a:spAutoFit/>
          </a:bodyPr>
          <a:lstStyle/>
          <a:p>
            <a:pPr>
              <a:lnSpc>
                <a:spcPts val="1800"/>
              </a:lnSpc>
              <a:spcAft>
                <a:spcPts val="600"/>
              </a:spcAft>
            </a:pPr>
            <a:r>
              <a:rPr sz="1300">
                <a:solidFill>
                  <a:srgbClr val="46505F"/>
                </a:solidFill>
                <a:latin typeface="Segoe UI"/>
              </a:rPr>
              <a:t>✦  IoT remote environmental monitoring</a:t>
            </a:r>
          </a:p>
          <a:p>
            <a:pPr>
              <a:lnSpc>
                <a:spcPts val="1800"/>
              </a:lnSpc>
              <a:spcAft>
                <a:spcPts val="600"/>
              </a:spcAft>
            </a:pPr>
            <a:r>
              <a:rPr sz="1300">
                <a:solidFill>
                  <a:srgbClr val="46505F"/>
                </a:solidFill>
                <a:latin typeface="Segoe UI"/>
              </a:rPr>
              <a:t>✦  Smart home climate control dashboards</a:t>
            </a:r>
          </a:p>
          <a:p>
            <a:pPr>
              <a:lnSpc>
                <a:spcPts val="1800"/>
              </a:lnSpc>
              <a:spcAft>
                <a:spcPts val="600"/>
              </a:spcAft>
            </a:pPr>
            <a:r>
              <a:rPr sz="1300">
                <a:solidFill>
                  <a:srgbClr val="46505F"/>
                </a:solidFill>
                <a:latin typeface="Segoe UI"/>
              </a:rPr>
              <a:t>✦  Industrial data logging &amp; analytics</a:t>
            </a:r>
          </a:p>
          <a:p>
            <a:pPr>
              <a:lnSpc>
                <a:spcPts val="1800"/>
              </a:lnSpc>
              <a:spcAft>
                <a:spcPts val="600"/>
              </a:spcAft>
            </a:pPr>
            <a:r>
              <a:rPr sz="1300">
                <a:solidFill>
                  <a:srgbClr val="46505F"/>
                </a:solidFill>
                <a:latin typeface="Segoe UI"/>
              </a:rPr>
              <a:t>✦  Agricultural field condition tracking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6 — Cloud Data Logging with ThingSpeak</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15</a:t>
            </a:r>
          </a:p>
        </p:txBody>
      </p:sp>
      <p:sp>
        <p:nvSpPr>
          <p:cNvPr id="9" name="TextBox 8"/>
          <p:cNvSpPr txBox="1"/>
          <p:nvPr/>
        </p:nvSpPr>
        <p:spPr>
          <a:xfrm>
            <a:off x="457200" y="1051560"/>
            <a:ext cx="5676467" cy="4052263"/>
          </a:xfrm>
          <a:prstGeom prst="rect">
            <a:avLst/>
          </a:prstGeom>
          <a:noFill/>
        </p:spPr>
        <p:txBody>
          <a:bodyPr wrap="square">
            <a:spAutoFit/>
          </a:bodyPr>
          <a:lstStyle/>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Objective: </a:t>
            </a:r>
            <a:r>
              <a:rPr sz="1600" dirty="0">
                <a:solidFill>
                  <a:srgbClr val="232832"/>
                </a:solidFill>
                <a:latin typeface="Amasis MT Pro" panose="02040504050005020304" pitchFamily="18" charset="0"/>
              </a:rPr>
              <a:t>Connect ESP32 with DHT11 sensor to the </a:t>
            </a:r>
            <a:r>
              <a:rPr sz="1600" dirty="0" err="1">
                <a:solidFill>
                  <a:srgbClr val="232832"/>
                </a:solidFill>
                <a:latin typeface="Amasis MT Pro" panose="02040504050005020304" pitchFamily="18" charset="0"/>
              </a:rPr>
              <a:t>ThingSpeak</a:t>
            </a:r>
            <a:r>
              <a:rPr sz="1600" dirty="0">
                <a:solidFill>
                  <a:srgbClr val="232832"/>
                </a:solidFill>
                <a:latin typeface="Amasis MT Pro" panose="02040504050005020304" pitchFamily="18" charset="0"/>
              </a:rPr>
              <a:t> IoT cloud platform, upload temperature and humidity data using API keys, and </a:t>
            </a:r>
            <a:r>
              <a:rPr sz="1600" dirty="0" err="1">
                <a:solidFill>
                  <a:srgbClr val="232832"/>
                </a:solidFill>
                <a:latin typeface="Amasis MT Pro" panose="02040504050005020304" pitchFamily="18" charset="0"/>
              </a:rPr>
              <a:t>visualise</a:t>
            </a:r>
            <a:r>
              <a:rPr sz="1600" dirty="0">
                <a:solidFill>
                  <a:srgbClr val="232832"/>
                </a:solidFill>
                <a:latin typeface="Amasis MT Pro" panose="02040504050005020304" pitchFamily="18" charset="0"/>
              </a:rPr>
              <a:t> the data on the </a:t>
            </a:r>
            <a:r>
              <a:rPr sz="1600" dirty="0" err="1">
                <a:solidFill>
                  <a:srgbClr val="232832"/>
                </a:solidFill>
                <a:latin typeface="Amasis MT Pro" panose="02040504050005020304" pitchFamily="18" charset="0"/>
              </a:rPr>
              <a:t>ThingSpeak</a:t>
            </a:r>
            <a:r>
              <a:rPr sz="1600" dirty="0">
                <a:solidFill>
                  <a:srgbClr val="232832"/>
                </a:solidFill>
                <a:latin typeface="Amasis MT Pro" panose="02040504050005020304" pitchFamily="18" charset="0"/>
              </a:rPr>
              <a:t> web dashboard.</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Working Principle: </a:t>
            </a:r>
            <a:r>
              <a:rPr sz="1600" dirty="0">
                <a:solidFill>
                  <a:srgbClr val="232832"/>
                </a:solidFill>
                <a:latin typeface="Amasis MT Pro" panose="02040504050005020304" pitchFamily="18" charset="0"/>
              </a:rPr>
              <a:t>The ESP32 connects to Wi-Fi, </a:t>
            </a:r>
            <a:r>
              <a:rPr sz="1600" dirty="0" err="1">
                <a:solidFill>
                  <a:srgbClr val="232832"/>
                </a:solidFill>
                <a:latin typeface="Amasis MT Pro" panose="02040504050005020304" pitchFamily="18" charset="0"/>
              </a:rPr>
              <a:t>initialises</a:t>
            </a:r>
            <a:r>
              <a:rPr sz="1600" dirty="0">
                <a:solidFill>
                  <a:srgbClr val="232832"/>
                </a:solidFill>
                <a:latin typeface="Amasis MT Pro" panose="02040504050005020304" pitchFamily="18" charset="0"/>
              </a:rPr>
              <a:t> the </a:t>
            </a:r>
            <a:r>
              <a:rPr sz="1600" dirty="0" err="1">
                <a:solidFill>
                  <a:srgbClr val="232832"/>
                </a:solidFill>
                <a:latin typeface="Amasis MT Pro" panose="02040504050005020304" pitchFamily="18" charset="0"/>
              </a:rPr>
              <a:t>ThingSpeak</a:t>
            </a:r>
            <a:r>
              <a:rPr sz="1600" dirty="0">
                <a:solidFill>
                  <a:srgbClr val="232832"/>
                </a:solidFill>
                <a:latin typeface="Amasis MT Pro" panose="02040504050005020304" pitchFamily="18" charset="0"/>
              </a:rPr>
              <a:t> client, and reads DHT11 data. </a:t>
            </a:r>
            <a:r>
              <a:rPr sz="1600" dirty="0" err="1">
                <a:solidFill>
                  <a:srgbClr val="232832"/>
                </a:solidFill>
                <a:latin typeface="Amasis MT Pro" panose="02040504050005020304" pitchFamily="18" charset="0"/>
              </a:rPr>
              <a:t>ThingSpeak.setField</a:t>
            </a:r>
            <a:r>
              <a:rPr sz="1600" dirty="0">
                <a:solidFill>
                  <a:srgbClr val="232832"/>
                </a:solidFill>
                <a:latin typeface="Amasis MT Pro" panose="02040504050005020304" pitchFamily="18" charset="0"/>
              </a:rPr>
              <a:t>() maps sensor values to channel fields. </a:t>
            </a:r>
            <a:r>
              <a:rPr sz="1600" dirty="0" err="1">
                <a:solidFill>
                  <a:srgbClr val="232832"/>
                </a:solidFill>
                <a:latin typeface="Amasis MT Pro" panose="02040504050005020304" pitchFamily="18" charset="0"/>
              </a:rPr>
              <a:t>ThingSpeak.writeFields</a:t>
            </a:r>
            <a:r>
              <a:rPr sz="1600" dirty="0">
                <a:solidFill>
                  <a:srgbClr val="232832"/>
                </a:solidFill>
                <a:latin typeface="Amasis MT Pro" panose="02040504050005020304" pitchFamily="18" charset="0"/>
              </a:rPr>
              <a:t>() uploads data using the channel ID and write API key. Free tier requires minimum 15-second interval.</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Components: </a:t>
            </a:r>
            <a:r>
              <a:rPr sz="1600" dirty="0">
                <a:solidFill>
                  <a:srgbClr val="232832"/>
                </a:solidFill>
                <a:latin typeface="Amasis MT Pro" panose="02040504050005020304" pitchFamily="18" charset="0"/>
              </a:rPr>
              <a:t>ESP32 </a:t>
            </a:r>
            <a:r>
              <a:rPr sz="1600" dirty="0" err="1">
                <a:solidFill>
                  <a:srgbClr val="232832"/>
                </a:solidFill>
                <a:latin typeface="Amasis MT Pro" panose="02040504050005020304" pitchFamily="18" charset="0"/>
              </a:rPr>
              <a:t>DevKit</a:t>
            </a:r>
            <a:r>
              <a:rPr sz="1600" dirty="0">
                <a:solidFill>
                  <a:srgbClr val="232832"/>
                </a:solidFill>
                <a:latin typeface="Amasis MT Pro" panose="02040504050005020304" pitchFamily="18" charset="0"/>
              </a:rPr>
              <a:t>, DHT11 Sensor (GPIO 16), Wi-Fi Network, </a:t>
            </a:r>
            <a:r>
              <a:rPr sz="1600" dirty="0" err="1">
                <a:solidFill>
                  <a:srgbClr val="232832"/>
                </a:solidFill>
                <a:latin typeface="Amasis MT Pro" panose="02040504050005020304" pitchFamily="18" charset="0"/>
              </a:rPr>
              <a:t>ThingSpeak</a:t>
            </a:r>
            <a:r>
              <a:rPr sz="1600" dirty="0">
                <a:solidFill>
                  <a:srgbClr val="232832"/>
                </a:solidFill>
                <a:latin typeface="Amasis MT Pro" panose="02040504050005020304" pitchFamily="18" charset="0"/>
              </a:rPr>
              <a:t> Account (Channel ID: 3422621).</a:t>
            </a:r>
          </a:p>
          <a:p>
            <a:pPr marL="285750" indent="-285750">
              <a:lnSpc>
                <a:spcPts val="2000"/>
              </a:lnSpc>
              <a:spcAft>
                <a:spcPts val="1000"/>
              </a:spcAft>
              <a:buFont typeface="Arial" panose="020B0604020202020204" pitchFamily="34" charset="0"/>
              <a:buChar char="•"/>
            </a:pPr>
            <a:r>
              <a:rPr sz="1600" b="1" dirty="0">
                <a:solidFill>
                  <a:srgbClr val="0F284B"/>
                </a:solidFill>
                <a:latin typeface="Amasis MT Pro" panose="02040504050005020304" pitchFamily="18" charset="0"/>
              </a:rPr>
              <a:t>Libraries: </a:t>
            </a:r>
            <a:r>
              <a:rPr sz="1600" dirty="0" err="1">
                <a:solidFill>
                  <a:srgbClr val="232832"/>
                </a:solidFill>
                <a:latin typeface="Amasis MT Pro" panose="02040504050005020304" pitchFamily="18" charset="0"/>
              </a:rPr>
              <a:t>WiFi.h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ThingSpeak.h</a:t>
            </a:r>
            <a:r>
              <a:rPr sz="1600" dirty="0">
                <a:solidFill>
                  <a:srgbClr val="232832"/>
                </a:solidFill>
                <a:latin typeface="Amasis MT Pro" panose="02040504050005020304" pitchFamily="18" charset="0"/>
              </a:rPr>
              <a:t>, </a:t>
            </a:r>
            <a:r>
              <a:rPr sz="1600" dirty="0" err="1">
                <a:solidFill>
                  <a:srgbClr val="232832"/>
                </a:solidFill>
                <a:latin typeface="Amasis MT Pro" panose="02040504050005020304" pitchFamily="18" charset="0"/>
              </a:rPr>
              <a:t>DHT.h</a:t>
            </a:r>
            <a:r>
              <a:rPr sz="1600" dirty="0">
                <a:solidFill>
                  <a:srgbClr val="232832"/>
                </a:solidFill>
                <a:latin typeface="Amasis MT Pro" panose="02040504050005020304" pitchFamily="18" charset="0"/>
              </a:rPr>
              <a:t>.</a:t>
            </a:r>
          </a:p>
        </p:txBody>
      </p:sp>
      <p:sp>
        <p:nvSpPr>
          <p:cNvPr id="10" name="Rounded Rectangle 9"/>
          <p:cNvSpPr/>
          <p:nvPr/>
        </p:nvSpPr>
        <p:spPr>
          <a:xfrm>
            <a:off x="6528816" y="996696"/>
            <a:ext cx="5230368" cy="1653737"/>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block_thingspeak.png"/>
          <p:cNvPicPr>
            <a:picLocks noChangeAspect="1"/>
          </p:cNvPicPr>
          <p:nvPr/>
        </p:nvPicPr>
        <p:blipFill>
          <a:blip r:embed="rId2"/>
          <a:stretch>
            <a:fillRect/>
          </a:stretch>
        </p:blipFill>
        <p:spPr>
          <a:xfrm>
            <a:off x="6583680" y="1051560"/>
            <a:ext cx="5120640" cy="1544009"/>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2" name="TextBox 11"/>
          <p:cNvSpPr txBox="1"/>
          <p:nvPr/>
        </p:nvSpPr>
        <p:spPr>
          <a:xfrm>
            <a:off x="6583680" y="2668721"/>
            <a:ext cx="5120640" cy="320040"/>
          </a:xfrm>
          <a:prstGeom prst="rect">
            <a:avLst/>
          </a:prstGeom>
          <a:noFill/>
        </p:spPr>
        <p:txBody>
          <a:bodyPr wrap="square">
            <a:spAutoFit/>
          </a:bodyPr>
          <a:lstStyle/>
          <a:p>
            <a:pPr algn="ctr">
              <a:defRPr sz="1100" b="0" i="1">
                <a:solidFill>
                  <a:srgbClr val="788291"/>
                </a:solidFill>
                <a:latin typeface="Segoe UI Light"/>
              </a:defRPr>
            </a:pPr>
            <a:r>
              <a:t>Fig 6.1 — Architecture: DHT11 → ESP32 → Wi-Fi → ThingSpeak Cloud</a:t>
            </a:r>
          </a:p>
        </p:txBody>
      </p:sp>
      <p:sp>
        <p:nvSpPr>
          <p:cNvPr id="13" name="Rounded Rectangle 12"/>
          <p:cNvSpPr/>
          <p:nvPr/>
        </p:nvSpPr>
        <p:spPr>
          <a:xfrm>
            <a:off x="6949440" y="3328416"/>
            <a:ext cx="4426482" cy="2670048"/>
          </a:xfrm>
          <a:prstGeom prst="roundRect">
            <a:avLst/>
          </a:prstGeom>
          <a:solidFill>
            <a:srgbClr val="D7E1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a:extLst>
              <a:ext uri="{FF2B5EF4-FFF2-40B4-BE49-F238E27FC236}">
                <a16:creationId xmlns:a16="http://schemas.microsoft.com/office/drawing/2014/main" id="{BCBCA612-315E-42B7-9AAD-F170D5A18027}"/>
              </a:ext>
            </a:extLst>
          </p:cNvPr>
          <p:cNvPicPr>
            <a:picLocks noChangeAspect="1"/>
          </p:cNvPicPr>
          <p:nvPr/>
        </p:nvPicPr>
        <p:blipFill>
          <a:blip r:embed="rId3"/>
          <a:srcRect l="13629" t="14079" r="21936" b="8274"/>
          <a:stretch>
            <a:fillRect/>
          </a:stretch>
        </p:blipFill>
        <p:spPr>
          <a:xfrm>
            <a:off x="7079663" y="3482536"/>
            <a:ext cx="4128673" cy="2378767"/>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9" name="TextBox 18">
            <a:extLst>
              <a:ext uri="{FF2B5EF4-FFF2-40B4-BE49-F238E27FC236}">
                <a16:creationId xmlns:a16="http://schemas.microsoft.com/office/drawing/2014/main" id="{7FFFEBF4-94FB-0374-8854-32E5CC6F1018}"/>
              </a:ext>
            </a:extLst>
          </p:cNvPr>
          <p:cNvSpPr txBox="1"/>
          <p:nvPr/>
        </p:nvSpPr>
        <p:spPr>
          <a:xfrm>
            <a:off x="6583680" y="6035039"/>
            <a:ext cx="5354917" cy="261610"/>
          </a:xfrm>
          <a:prstGeom prst="rect">
            <a:avLst/>
          </a:prstGeom>
          <a:noFill/>
        </p:spPr>
        <p:txBody>
          <a:bodyPr wrap="square">
            <a:spAutoFit/>
          </a:bodyPr>
          <a:lstStyle/>
          <a:p>
            <a:pPr algn="ctr">
              <a:defRPr sz="1100" b="0" i="1">
                <a:solidFill>
                  <a:srgbClr val="788291"/>
                </a:solidFill>
                <a:latin typeface="Segoe UI Light"/>
              </a:defRPr>
            </a:pPr>
            <a:r>
              <a:rPr dirty="0"/>
              <a:t>Fig 6.</a:t>
            </a:r>
            <a:r>
              <a:rPr lang="en-US" dirty="0"/>
              <a:t>2 </a:t>
            </a:r>
            <a:r>
              <a:rPr dirty="0"/>
              <a:t>— </a:t>
            </a:r>
            <a:r>
              <a:rPr dirty="0" err="1"/>
              <a:t>ThingSpeak</a:t>
            </a:r>
            <a:r>
              <a:rPr dirty="0"/>
              <a:t> Dashboard: Temperature &amp; Humidity Charts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Experiment 6 — Code, Dashboard &amp; Applications</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dirty="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16</a:t>
            </a:r>
          </a:p>
        </p:txBody>
      </p:sp>
      <p:sp>
        <p:nvSpPr>
          <p:cNvPr id="9" name="Rounded Rectangle 8"/>
          <p:cNvSpPr/>
          <p:nvPr/>
        </p:nvSpPr>
        <p:spPr>
          <a:xfrm>
            <a:off x="457200" y="1051560"/>
            <a:ext cx="5303520" cy="4690872"/>
          </a:xfrm>
          <a:prstGeom prst="roundRect">
            <a:avLst/>
          </a:prstGeom>
          <a:solidFill>
            <a:srgbClr val="191E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40080" y="1188720"/>
            <a:ext cx="4937760" cy="3611880"/>
          </a:xfrm>
          <a:prstGeom prst="rect">
            <a:avLst/>
          </a:prstGeom>
          <a:noFill/>
        </p:spPr>
        <p:txBody>
          <a:bodyPr wrap="square">
            <a:spAutoFit/>
          </a:bodyPr>
          <a:lstStyle/>
          <a:p>
            <a:pPr>
              <a:lnSpc>
                <a:spcPts val="1500"/>
              </a:lnSpc>
              <a:spcAft>
                <a:spcPts val="200"/>
              </a:spcAft>
              <a:defRPr sz="1100">
                <a:solidFill>
                  <a:srgbClr val="BEEBC3"/>
                </a:solidFill>
                <a:latin typeface="Cascadia Code"/>
              </a:defRPr>
            </a:pPr>
            <a:r>
              <a:rPr dirty="0"/>
              <a:t>#include &lt;</a:t>
            </a:r>
            <a:r>
              <a:rPr dirty="0" err="1"/>
              <a:t>WiFi.h</a:t>
            </a:r>
            <a:r>
              <a:rPr dirty="0"/>
              <a:t>&gt;</a:t>
            </a:r>
          </a:p>
          <a:p>
            <a:pPr>
              <a:lnSpc>
                <a:spcPts val="1500"/>
              </a:lnSpc>
              <a:spcAft>
                <a:spcPts val="200"/>
              </a:spcAft>
              <a:defRPr sz="1100">
                <a:solidFill>
                  <a:srgbClr val="BEEBC3"/>
                </a:solidFill>
                <a:latin typeface="Cascadia Code"/>
              </a:defRPr>
            </a:pPr>
            <a:r>
              <a:rPr dirty="0"/>
              <a:t>#include &lt;</a:t>
            </a:r>
            <a:r>
              <a:rPr dirty="0" err="1"/>
              <a:t>ThingSpeak.h</a:t>
            </a:r>
            <a:r>
              <a:rPr dirty="0"/>
              <a:t>&gt;</a:t>
            </a:r>
          </a:p>
          <a:p>
            <a:pPr>
              <a:lnSpc>
                <a:spcPts val="1500"/>
              </a:lnSpc>
              <a:spcAft>
                <a:spcPts val="200"/>
              </a:spcAft>
              <a:defRPr sz="1100">
                <a:solidFill>
                  <a:srgbClr val="BEEBC3"/>
                </a:solidFill>
                <a:latin typeface="Cascadia Code"/>
              </a:defRPr>
            </a:pPr>
            <a:r>
              <a:rPr dirty="0"/>
              <a:t>#include &lt;</a:t>
            </a:r>
            <a:r>
              <a:rPr dirty="0" err="1"/>
              <a:t>DHT.h</a:t>
            </a:r>
            <a:r>
              <a:rPr dirty="0"/>
              <a:t>&gt;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unsigned long </a:t>
            </a:r>
            <a:r>
              <a:rPr dirty="0" err="1"/>
              <a:t>channelID</a:t>
            </a:r>
            <a:r>
              <a:rPr dirty="0"/>
              <a:t> = 3422621;</a:t>
            </a:r>
          </a:p>
          <a:p>
            <a:pPr>
              <a:lnSpc>
                <a:spcPts val="1500"/>
              </a:lnSpc>
              <a:spcAft>
                <a:spcPts val="200"/>
              </a:spcAft>
              <a:defRPr sz="1100">
                <a:solidFill>
                  <a:srgbClr val="BEEBC3"/>
                </a:solidFill>
                <a:latin typeface="Cascadia Code"/>
              </a:defRPr>
            </a:pPr>
            <a:r>
              <a:rPr dirty="0"/>
              <a:t>const char* </a:t>
            </a:r>
            <a:r>
              <a:rPr dirty="0" err="1"/>
              <a:t>writeAPIKey</a:t>
            </a:r>
            <a:r>
              <a:rPr dirty="0"/>
              <a:t> = "20RHNVSS5T...";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void loop() {</a:t>
            </a:r>
          </a:p>
          <a:p>
            <a:pPr>
              <a:lnSpc>
                <a:spcPts val="1500"/>
              </a:lnSpc>
              <a:spcAft>
                <a:spcPts val="200"/>
              </a:spcAft>
              <a:defRPr sz="1100">
                <a:solidFill>
                  <a:srgbClr val="BEEBC3"/>
                </a:solidFill>
                <a:latin typeface="Cascadia Code"/>
              </a:defRPr>
            </a:pPr>
            <a:r>
              <a:rPr dirty="0"/>
              <a:t>  float temperature = </a:t>
            </a:r>
            <a:r>
              <a:rPr dirty="0" err="1"/>
              <a:t>dht.readTemperature</a:t>
            </a:r>
            <a:r>
              <a:rPr dirty="0"/>
              <a:t>();</a:t>
            </a:r>
          </a:p>
          <a:p>
            <a:pPr>
              <a:lnSpc>
                <a:spcPts val="1500"/>
              </a:lnSpc>
              <a:spcAft>
                <a:spcPts val="200"/>
              </a:spcAft>
              <a:defRPr sz="1100">
                <a:solidFill>
                  <a:srgbClr val="BEEBC3"/>
                </a:solidFill>
                <a:latin typeface="Cascadia Code"/>
              </a:defRPr>
            </a:pPr>
            <a:r>
              <a:rPr dirty="0"/>
              <a:t>  float humidity = </a:t>
            </a:r>
            <a:r>
              <a:rPr dirty="0" err="1"/>
              <a:t>dht.readHumidity</a:t>
            </a:r>
            <a:r>
              <a:rPr dirty="0"/>
              <a: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  </a:t>
            </a:r>
            <a:r>
              <a:rPr dirty="0" err="1"/>
              <a:t>ThingSpeak.setField</a:t>
            </a:r>
            <a:r>
              <a:rPr dirty="0"/>
              <a:t>(1, temperature);</a:t>
            </a:r>
          </a:p>
          <a:p>
            <a:pPr>
              <a:lnSpc>
                <a:spcPts val="1500"/>
              </a:lnSpc>
              <a:spcAft>
                <a:spcPts val="200"/>
              </a:spcAft>
              <a:defRPr sz="1100">
                <a:solidFill>
                  <a:srgbClr val="BEEBC3"/>
                </a:solidFill>
                <a:latin typeface="Cascadia Code"/>
              </a:defRPr>
            </a:pPr>
            <a:r>
              <a:rPr dirty="0"/>
              <a:t>  </a:t>
            </a:r>
            <a:r>
              <a:rPr dirty="0" err="1"/>
              <a:t>ThingSpeak.setField</a:t>
            </a:r>
            <a:r>
              <a:rPr dirty="0"/>
              <a:t>(2, humidity);</a:t>
            </a:r>
          </a:p>
          <a:p>
            <a:pPr>
              <a:lnSpc>
                <a:spcPts val="1500"/>
              </a:lnSpc>
              <a:spcAft>
                <a:spcPts val="200"/>
              </a:spcAft>
              <a:defRPr sz="1100">
                <a:solidFill>
                  <a:srgbClr val="BEEBC3"/>
                </a:solidFill>
                <a:latin typeface="Cascadia Code"/>
              </a:defRPr>
            </a:pPr>
            <a:r>
              <a:rPr dirty="0"/>
              <a:t>  int response = </a:t>
            </a:r>
            <a:r>
              <a:rPr dirty="0" err="1"/>
              <a:t>ThingSpeak.writeFields</a:t>
            </a:r>
            <a:r>
              <a:rPr dirty="0"/>
              <a:t>(</a:t>
            </a:r>
          </a:p>
          <a:p>
            <a:pPr>
              <a:lnSpc>
                <a:spcPts val="1500"/>
              </a:lnSpc>
              <a:spcAft>
                <a:spcPts val="200"/>
              </a:spcAft>
              <a:defRPr sz="1100">
                <a:solidFill>
                  <a:srgbClr val="BEEBC3"/>
                </a:solidFill>
                <a:latin typeface="Cascadia Code"/>
              </a:defRPr>
            </a:pPr>
            <a:r>
              <a:rPr dirty="0"/>
              <a:t>      </a:t>
            </a:r>
            <a:r>
              <a:rPr dirty="0" err="1"/>
              <a:t>channelID</a:t>
            </a:r>
            <a:r>
              <a:rPr dirty="0"/>
              <a:t>, </a:t>
            </a:r>
            <a:r>
              <a:rPr dirty="0" err="1"/>
              <a:t>writeAPIKey</a:t>
            </a:r>
            <a:r>
              <a:rPr dirty="0"/>
              <a:t>);</a:t>
            </a:r>
          </a:p>
          <a:p>
            <a:pPr>
              <a:lnSpc>
                <a:spcPts val="1500"/>
              </a:lnSpc>
              <a:spcAft>
                <a:spcPts val="200"/>
              </a:spcAft>
              <a:defRPr sz="1100">
                <a:solidFill>
                  <a:srgbClr val="BEEBC3"/>
                </a:solidFill>
                <a:latin typeface="Cascadia Code"/>
              </a:defRPr>
            </a:pPr>
            <a:endParaRPr dirty="0"/>
          </a:p>
          <a:p>
            <a:pPr>
              <a:lnSpc>
                <a:spcPts val="1500"/>
              </a:lnSpc>
              <a:spcAft>
                <a:spcPts val="200"/>
              </a:spcAft>
              <a:defRPr sz="1100">
                <a:solidFill>
                  <a:srgbClr val="BEEBC3"/>
                </a:solidFill>
                <a:latin typeface="Cascadia Code"/>
              </a:defRPr>
            </a:pPr>
            <a:r>
              <a:rPr dirty="0"/>
              <a:t>  if (response == 200)</a:t>
            </a:r>
          </a:p>
          <a:p>
            <a:pPr>
              <a:lnSpc>
                <a:spcPts val="1500"/>
              </a:lnSpc>
              <a:spcAft>
                <a:spcPts val="200"/>
              </a:spcAft>
              <a:defRPr sz="1100">
                <a:solidFill>
                  <a:srgbClr val="BEEBC3"/>
                </a:solidFill>
                <a:latin typeface="Cascadia Code"/>
              </a:defRPr>
            </a:pPr>
            <a:r>
              <a:rPr dirty="0"/>
              <a:t>    </a:t>
            </a:r>
            <a:r>
              <a:rPr dirty="0" err="1"/>
              <a:t>Serial.println</a:t>
            </a:r>
            <a:r>
              <a:rPr dirty="0"/>
              <a:t>("Data uploaded");</a:t>
            </a:r>
          </a:p>
          <a:p>
            <a:pPr>
              <a:lnSpc>
                <a:spcPts val="1500"/>
              </a:lnSpc>
              <a:spcAft>
                <a:spcPts val="200"/>
              </a:spcAft>
              <a:defRPr sz="1100">
                <a:solidFill>
                  <a:srgbClr val="BEEBC3"/>
                </a:solidFill>
                <a:latin typeface="Cascadia Code"/>
              </a:defRPr>
            </a:pPr>
            <a:r>
              <a:rPr dirty="0"/>
              <a:t>  delay(20000);  // 15s min for free tier</a:t>
            </a:r>
          </a:p>
          <a:p>
            <a:pPr>
              <a:lnSpc>
                <a:spcPts val="1500"/>
              </a:lnSpc>
              <a:spcAft>
                <a:spcPts val="200"/>
              </a:spcAft>
              <a:defRPr sz="1100">
                <a:solidFill>
                  <a:srgbClr val="BEEBC3"/>
                </a:solidFill>
                <a:latin typeface="Cascadia Code"/>
              </a:defRPr>
            </a:pPr>
            <a:r>
              <a:rPr dirty="0"/>
              <a:t>}</a:t>
            </a:r>
          </a:p>
        </p:txBody>
      </p:sp>
      <p:sp>
        <p:nvSpPr>
          <p:cNvPr id="12" name="TextBox 11"/>
          <p:cNvSpPr txBox="1"/>
          <p:nvPr/>
        </p:nvSpPr>
        <p:spPr>
          <a:xfrm>
            <a:off x="274320" y="5742432"/>
            <a:ext cx="5303520" cy="274320"/>
          </a:xfrm>
          <a:prstGeom prst="rect">
            <a:avLst/>
          </a:prstGeom>
          <a:noFill/>
        </p:spPr>
        <p:txBody>
          <a:bodyPr wrap="square">
            <a:spAutoFit/>
          </a:bodyPr>
          <a:lstStyle/>
          <a:p>
            <a:pPr algn="ctr">
              <a:defRPr sz="1100" b="0" i="1">
                <a:solidFill>
                  <a:srgbClr val="788291"/>
                </a:solidFill>
                <a:latin typeface="Segoe UI Light"/>
              </a:defRPr>
            </a:pPr>
            <a:r>
              <a:rPr dirty="0"/>
              <a:t>Source Code — </a:t>
            </a:r>
            <a:r>
              <a:rPr dirty="0" err="1"/>
              <a:t>ThingSpeak</a:t>
            </a:r>
            <a:r>
              <a:rPr dirty="0"/>
              <a:t> Upload (Key Sections)</a:t>
            </a:r>
          </a:p>
        </p:txBody>
      </p:sp>
      <p:sp>
        <p:nvSpPr>
          <p:cNvPr id="16" name="TextBox 15"/>
          <p:cNvSpPr txBox="1"/>
          <p:nvPr/>
        </p:nvSpPr>
        <p:spPr>
          <a:xfrm>
            <a:off x="6400800" y="1362456"/>
            <a:ext cx="5486400" cy="1900520"/>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sz="1600" b="1" dirty="0">
                <a:solidFill>
                  <a:srgbClr val="0F284B"/>
                </a:solidFill>
                <a:latin typeface="Amasis MT Pro" panose="02040504050005020304" pitchFamily="18" charset="0"/>
              </a:rPr>
              <a:t>Observations: </a:t>
            </a:r>
            <a:r>
              <a:rPr sz="1600" dirty="0">
                <a:solidFill>
                  <a:srgbClr val="232832"/>
                </a:solidFill>
                <a:latin typeface="Amasis MT Pro" panose="02040504050005020304" pitchFamily="18" charset="0"/>
              </a:rPr>
              <a:t>Data uploads every 20 seconds. Dashboard shows real-time temperature (~28°C) and humidity (~77-80%) with timestamps. Response code 200 confirms success.</a:t>
            </a:r>
          </a:p>
          <a:p>
            <a:pPr marL="285750" indent="-285750">
              <a:lnSpc>
                <a:spcPts val="1900"/>
              </a:lnSpc>
              <a:spcAft>
                <a:spcPts val="800"/>
              </a:spcAft>
              <a:buFont typeface="Arial" panose="020B0604020202020204" pitchFamily="34" charset="0"/>
              <a:buChar char="•"/>
            </a:pPr>
            <a:r>
              <a:rPr sz="1600" b="1" dirty="0">
                <a:solidFill>
                  <a:srgbClr val="0F284B"/>
                </a:solidFill>
                <a:latin typeface="Amasis MT Pro" panose="02040504050005020304" pitchFamily="18" charset="0"/>
              </a:rPr>
              <a:t>Result: </a:t>
            </a:r>
            <a:r>
              <a:rPr sz="1600" dirty="0">
                <a:solidFill>
                  <a:srgbClr val="232832"/>
                </a:solidFill>
                <a:latin typeface="Amasis MT Pro" panose="02040504050005020304" pitchFamily="18" charset="0"/>
              </a:rPr>
              <a:t>Complete IoT pipeline from physical sensor to cloud </a:t>
            </a:r>
            <a:r>
              <a:rPr sz="1600" dirty="0" err="1">
                <a:solidFill>
                  <a:srgbClr val="232832"/>
                </a:solidFill>
                <a:latin typeface="Amasis MT Pro" panose="02040504050005020304" pitchFamily="18" charset="0"/>
              </a:rPr>
              <a:t>visualisation</a:t>
            </a:r>
            <a:r>
              <a:rPr sz="1600" dirty="0">
                <a:solidFill>
                  <a:srgbClr val="232832"/>
                </a:solidFill>
                <a:latin typeface="Amasis MT Pro" panose="02040504050005020304" pitchFamily="18" charset="0"/>
              </a:rPr>
              <a:t>. Data accessible from any browser worldwide.</a:t>
            </a:r>
          </a:p>
        </p:txBody>
      </p:sp>
      <p:sp>
        <p:nvSpPr>
          <p:cNvPr id="17" name="Rounded Rectangle 16"/>
          <p:cNvSpPr/>
          <p:nvPr/>
        </p:nvSpPr>
        <p:spPr>
          <a:xfrm>
            <a:off x="6400800" y="3750472"/>
            <a:ext cx="5486400" cy="1745072"/>
          </a:xfrm>
          <a:prstGeom prst="roundRect">
            <a:avLst/>
          </a:prstGeom>
          <a:solidFill>
            <a:srgbClr val="E8F2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07327" y="3979072"/>
            <a:ext cx="4937760" cy="274320"/>
          </a:xfrm>
          <a:prstGeom prst="rect">
            <a:avLst/>
          </a:prstGeom>
          <a:noFill/>
        </p:spPr>
        <p:txBody>
          <a:bodyPr wrap="square">
            <a:spAutoFit/>
          </a:bodyPr>
          <a:lstStyle/>
          <a:p>
            <a:pPr algn="l">
              <a:defRPr sz="1400" b="1" i="0">
                <a:solidFill>
                  <a:srgbClr val="0F284B"/>
                </a:solidFill>
                <a:latin typeface="Segoe UI Semibold"/>
              </a:defRPr>
            </a:pPr>
            <a:r>
              <a:t>Applications</a:t>
            </a:r>
          </a:p>
        </p:txBody>
      </p:sp>
      <p:sp>
        <p:nvSpPr>
          <p:cNvPr id="20" name="TextBox 19"/>
          <p:cNvSpPr txBox="1"/>
          <p:nvPr/>
        </p:nvSpPr>
        <p:spPr>
          <a:xfrm>
            <a:off x="6507327" y="4256833"/>
            <a:ext cx="4937760" cy="640080"/>
          </a:xfrm>
          <a:prstGeom prst="rect">
            <a:avLst/>
          </a:prstGeom>
          <a:noFill/>
        </p:spPr>
        <p:txBody>
          <a:bodyPr wrap="square">
            <a:spAutoFit/>
          </a:bodyPr>
          <a:lstStyle/>
          <a:p>
            <a:pPr>
              <a:lnSpc>
                <a:spcPts val="1700"/>
              </a:lnSpc>
              <a:spcAft>
                <a:spcPts val="400"/>
              </a:spcAft>
            </a:pPr>
            <a:r>
              <a:rPr sz="1200" dirty="0">
                <a:solidFill>
                  <a:srgbClr val="46505F"/>
                </a:solidFill>
                <a:latin typeface="Segoe UI"/>
              </a:rPr>
              <a:t>✦  IoT cloud dashboards &amp; analytics</a:t>
            </a:r>
          </a:p>
          <a:p>
            <a:pPr>
              <a:lnSpc>
                <a:spcPts val="1700"/>
              </a:lnSpc>
              <a:spcAft>
                <a:spcPts val="400"/>
              </a:spcAft>
            </a:pPr>
            <a:r>
              <a:rPr sz="1200" dirty="0">
                <a:solidFill>
                  <a:srgbClr val="46505F"/>
                </a:solidFill>
                <a:latin typeface="Segoe UI"/>
              </a:rPr>
              <a:t>✦  Remote environmental monitoring</a:t>
            </a:r>
          </a:p>
          <a:p>
            <a:pPr>
              <a:lnSpc>
                <a:spcPts val="1700"/>
              </a:lnSpc>
              <a:spcAft>
                <a:spcPts val="400"/>
              </a:spcAft>
            </a:pPr>
            <a:r>
              <a:rPr sz="1200" dirty="0">
                <a:solidFill>
                  <a:srgbClr val="46505F"/>
                </a:solidFill>
                <a:latin typeface="Segoe UI"/>
              </a:rPr>
              <a:t>✦  MATLAB integration for data science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latin typeface="Amasis MT Pro" panose="02040504050005020304" pitchFamily="18" charset="0"/>
            </a:endParaRPr>
          </a:p>
        </p:txBody>
      </p:sp>
      <p:sp>
        <p:nvSpPr>
          <p:cNvPr id="3" name="Rectangle 2"/>
          <p:cNvSpPr/>
          <p:nvPr/>
        </p:nvSpPr>
        <p:spPr>
          <a:xfrm>
            <a:off x="0" y="0"/>
            <a:ext cx="12191695" cy="841248"/>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841248"/>
            <a:ext cx="12191695"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40080" y="109728"/>
            <a:ext cx="10972800" cy="658368"/>
          </a:xfrm>
          <a:prstGeom prst="rect">
            <a:avLst/>
          </a:prstGeom>
          <a:noFill/>
        </p:spPr>
        <p:txBody>
          <a:bodyPr wrap="square">
            <a:spAutoFit/>
          </a:bodyPr>
          <a:lstStyle/>
          <a:p>
            <a:pPr algn="l">
              <a:defRPr sz="2800" b="1" i="0">
                <a:solidFill>
                  <a:srgbClr val="FFFFFF"/>
                </a:solidFill>
                <a:latin typeface="Segoe UI Semibold"/>
              </a:defRPr>
            </a:pPr>
            <a:r>
              <a:t>Key Learnings &amp; Skills Developed</a:t>
            </a:r>
          </a:p>
        </p:txBody>
      </p:sp>
      <p:sp>
        <p:nvSpPr>
          <p:cNvPr id="6" name="Rectangle 5"/>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8" name="TextBox 7"/>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17</a:t>
            </a:r>
          </a:p>
        </p:txBody>
      </p:sp>
      <p:sp>
        <p:nvSpPr>
          <p:cNvPr id="9" name="TextBox 8"/>
          <p:cNvSpPr txBox="1"/>
          <p:nvPr/>
        </p:nvSpPr>
        <p:spPr>
          <a:xfrm>
            <a:off x="457200" y="1154848"/>
            <a:ext cx="9689690" cy="4708981"/>
          </a:xfrm>
          <a:prstGeom prst="rect">
            <a:avLst/>
          </a:prstGeom>
          <a:noFill/>
        </p:spPr>
        <p:txBody>
          <a:bodyPr wrap="square">
            <a:spAutoFit/>
          </a:bodyPr>
          <a:lstStyle/>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ESP32 Programming: </a:t>
            </a:r>
            <a:r>
              <a:rPr dirty="0">
                <a:solidFill>
                  <a:srgbClr val="232832"/>
                </a:solidFill>
                <a:latin typeface="Amasis MT Pro" panose="02040504050005020304" pitchFamily="18" charset="0"/>
              </a:rPr>
              <a:t>Mastered GPIO configuration, digital I/O, and Arduino IDE workflow for the ESP32 microcontroller.</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Sensor Interfacing: </a:t>
            </a:r>
            <a:r>
              <a:rPr dirty="0">
                <a:solidFill>
                  <a:srgbClr val="232832"/>
                </a:solidFill>
                <a:latin typeface="Amasis MT Pro" panose="02040504050005020304" pitchFamily="18" charset="0"/>
              </a:rPr>
              <a:t>Hands-on experience with DHT11 (temperature/humidity), IR obstacle sensors, and push buttons.</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Wi-Fi Networking: </a:t>
            </a:r>
            <a:r>
              <a:rPr dirty="0">
                <a:solidFill>
                  <a:srgbClr val="232832"/>
                </a:solidFill>
                <a:latin typeface="Amasis MT Pro" panose="02040504050005020304" pitchFamily="18" charset="0"/>
              </a:rPr>
              <a:t>Learned STA mode configuration, network scanning, RSSI analysis, and encryption type detection.</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Cloud Integration: </a:t>
            </a:r>
            <a:r>
              <a:rPr dirty="0">
                <a:solidFill>
                  <a:srgbClr val="232832"/>
                </a:solidFill>
                <a:latin typeface="Amasis MT Pro" panose="02040504050005020304" pitchFamily="18" charset="0"/>
              </a:rPr>
              <a:t>Implemented real-time data pipelines to Firebase RTDB and </a:t>
            </a:r>
            <a:r>
              <a:rPr dirty="0" err="1">
                <a:solidFill>
                  <a:srgbClr val="232832"/>
                </a:solidFill>
                <a:latin typeface="Amasis MT Pro" panose="02040504050005020304" pitchFamily="18" charset="0"/>
              </a:rPr>
              <a:t>ThingSpeak</a:t>
            </a:r>
            <a:r>
              <a:rPr dirty="0">
                <a:solidFill>
                  <a:srgbClr val="232832"/>
                </a:solidFill>
                <a:latin typeface="Amasis MT Pro" panose="02040504050005020304" pitchFamily="18" charset="0"/>
              </a:rPr>
              <a:t> IoT platforms.</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I2C Communication: </a:t>
            </a:r>
            <a:r>
              <a:rPr dirty="0">
                <a:solidFill>
                  <a:srgbClr val="232832"/>
                </a:solidFill>
                <a:latin typeface="Amasis MT Pro" panose="02040504050005020304" pitchFamily="18" charset="0"/>
              </a:rPr>
              <a:t>Interfaced SSD1306 OLED display using Wire library and I2C protocol (SDA/SCL).</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Hardware Debugging: </a:t>
            </a:r>
            <a:r>
              <a:rPr dirty="0">
                <a:solidFill>
                  <a:srgbClr val="232832"/>
                </a:solidFill>
                <a:latin typeface="Amasis MT Pro" panose="02040504050005020304" pitchFamily="18" charset="0"/>
              </a:rPr>
              <a:t>Practical troubleshooting for circuit connections, sensor failures, and serial communication.</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Embedded Systems: </a:t>
            </a:r>
            <a:r>
              <a:rPr dirty="0">
                <a:solidFill>
                  <a:srgbClr val="232832"/>
                </a:solidFill>
                <a:latin typeface="Amasis MT Pro" panose="02040504050005020304" pitchFamily="18" charset="0"/>
              </a:rPr>
              <a:t>Understood the full cycle from circuit design to firmware development to cloud deployment.</a:t>
            </a:r>
          </a:p>
          <a:p>
            <a:pPr marL="285750" indent="-285750">
              <a:lnSpc>
                <a:spcPts val="1900"/>
              </a:lnSpc>
              <a:spcAft>
                <a:spcPts val="800"/>
              </a:spcAft>
              <a:buFont typeface="Arial" panose="020B0604020202020204" pitchFamily="34" charset="0"/>
              <a:buChar char="•"/>
            </a:pPr>
            <a:r>
              <a:rPr b="1" dirty="0">
                <a:solidFill>
                  <a:srgbClr val="0F284B"/>
                </a:solidFill>
                <a:latin typeface="Amasis MT Pro" panose="02040504050005020304" pitchFamily="18" charset="0"/>
              </a:rPr>
              <a:t>Team Collaboration: </a:t>
            </a:r>
            <a:r>
              <a:rPr dirty="0">
                <a:solidFill>
                  <a:srgbClr val="232832"/>
                </a:solidFill>
                <a:latin typeface="Amasis MT Pro" panose="02040504050005020304" pitchFamily="18" charset="0"/>
              </a:rPr>
              <a:t>Worked effectively across backend, frontend, documentation, and research roles.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274320"/>
            <a:ext cx="2011680" cy="2011680"/>
          </a:xfrm>
          <a:prstGeom prst="ellipse">
            <a:avLst/>
          </a:prstGeom>
          <a:solidFill>
            <a:srgbClr val="1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274320" y="4754880"/>
            <a:ext cx="2286000" cy="2286000"/>
          </a:xfrm>
          <a:prstGeom prst="ellipse">
            <a:avLst/>
          </a:prstGeom>
          <a:solidFill>
            <a:srgbClr val="1637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961120" y="5029200"/>
            <a:ext cx="1280160" cy="1280160"/>
          </a:xfrm>
          <a:prstGeom prst="ellipse">
            <a:avLst/>
          </a:prstGeom>
          <a:solidFill>
            <a:srgbClr val="23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1371600" y="457200"/>
            <a:ext cx="914400" cy="914400"/>
          </a:xfrm>
          <a:prstGeom prst="ellipse">
            <a:avLst/>
          </a:prstGeom>
          <a:solidFill>
            <a:srgbClr val="234B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754880" y="2743200"/>
            <a:ext cx="2651760" cy="45720"/>
          </a:xfrm>
          <a:prstGeom prst="rect">
            <a:avLst/>
          </a:prstGeom>
          <a:solidFill>
            <a:srgbClr val="00A0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0" y="1371600"/>
            <a:ext cx="12191695" cy="1097280"/>
          </a:xfrm>
          <a:prstGeom prst="rect">
            <a:avLst/>
          </a:prstGeom>
          <a:noFill/>
        </p:spPr>
        <p:txBody>
          <a:bodyPr wrap="square">
            <a:spAutoFit/>
          </a:bodyPr>
          <a:lstStyle/>
          <a:p>
            <a:pPr algn="ctr">
              <a:defRPr sz="6800" b="1" i="0">
                <a:solidFill>
                  <a:srgbClr val="FFFFFF"/>
                </a:solidFill>
                <a:latin typeface="Segoe UI Semibold"/>
              </a:defRPr>
            </a:pPr>
            <a:r>
              <a:t>THANK YOU</a:t>
            </a:r>
          </a:p>
        </p:txBody>
      </p:sp>
      <p:sp>
        <p:nvSpPr>
          <p:cNvPr id="9" name="TextBox 8"/>
          <p:cNvSpPr txBox="1"/>
          <p:nvPr/>
        </p:nvSpPr>
        <p:spPr>
          <a:xfrm>
            <a:off x="0" y="3063240"/>
            <a:ext cx="12191695" cy="548640"/>
          </a:xfrm>
          <a:prstGeom prst="rect">
            <a:avLst/>
          </a:prstGeom>
          <a:noFill/>
        </p:spPr>
        <p:txBody>
          <a:bodyPr wrap="square">
            <a:spAutoFit/>
          </a:bodyPr>
          <a:lstStyle/>
          <a:p>
            <a:pPr algn="ctr">
              <a:defRPr sz="2200" b="0" i="0">
                <a:solidFill>
                  <a:srgbClr val="A0C8EB"/>
                </a:solidFill>
                <a:latin typeface="Segoe UI"/>
              </a:defRPr>
            </a:pPr>
            <a:r>
              <a:t>Internet of Things Internship  |  TIH IIT Guwahati</a:t>
            </a:r>
          </a:p>
        </p:txBody>
      </p:sp>
      <p:sp>
        <p:nvSpPr>
          <p:cNvPr id="10" name="TextBox 9"/>
          <p:cNvSpPr txBox="1"/>
          <p:nvPr/>
        </p:nvSpPr>
        <p:spPr>
          <a:xfrm>
            <a:off x="0" y="3931920"/>
            <a:ext cx="12191695" cy="457200"/>
          </a:xfrm>
          <a:prstGeom prst="rect">
            <a:avLst/>
          </a:prstGeom>
          <a:noFill/>
        </p:spPr>
        <p:txBody>
          <a:bodyPr wrap="square">
            <a:spAutoFit/>
          </a:bodyPr>
          <a:lstStyle/>
          <a:p>
            <a:pPr algn="ctr">
              <a:defRPr sz="1700" b="0" i="0">
                <a:solidFill>
                  <a:srgbClr val="BED7EB"/>
                </a:solidFill>
                <a:latin typeface="Segoe UI Light"/>
              </a:defRPr>
            </a:pPr>
            <a:r>
              <a:t>Moharnab Gogoi   ·   Aryyaman Bora   ·   Mayuree Khanikar   ·   Indrani Gogoi</a:t>
            </a:r>
          </a:p>
        </p:txBody>
      </p:sp>
      <p:sp>
        <p:nvSpPr>
          <p:cNvPr id="11" name="TextBox 10"/>
          <p:cNvSpPr txBox="1"/>
          <p:nvPr/>
        </p:nvSpPr>
        <p:spPr>
          <a:xfrm>
            <a:off x="0" y="5120640"/>
            <a:ext cx="12191695" cy="365760"/>
          </a:xfrm>
          <a:prstGeom prst="rect">
            <a:avLst/>
          </a:prstGeom>
          <a:noFill/>
        </p:spPr>
        <p:txBody>
          <a:bodyPr wrap="square">
            <a:spAutoFit/>
          </a:bodyPr>
          <a:lstStyle/>
          <a:p>
            <a:pPr algn="ctr">
              <a:defRPr sz="1300" b="0" i="1">
                <a:solidFill>
                  <a:srgbClr val="82AAC8"/>
                </a:solidFill>
                <a:latin typeface="Segoe UI Light"/>
              </a:defRPr>
            </a:pPr>
            <a:r>
              <a:t>ESP32  ·  DHT11  ·  OLED  ·  Wi-Fi  ·  Firebase  ·  ThingSpeak</a:t>
            </a:r>
          </a:p>
        </p:txBody>
      </p:sp>
      <p:sp>
        <p:nvSpPr>
          <p:cNvPr id="12" name="Rectangle 11"/>
          <p:cNvSpPr/>
          <p:nvPr/>
        </p:nvSpPr>
        <p:spPr>
          <a:xfrm>
            <a:off x="0" y="6492240"/>
            <a:ext cx="12191695" cy="365760"/>
          </a:xfrm>
          <a:prstGeom prst="rect">
            <a:avLst/>
          </a:prstGeom>
          <a:solidFill>
            <a:srgbClr val="0F2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 y="6492240"/>
            <a:ext cx="9144000" cy="365760"/>
          </a:xfrm>
          <a:prstGeom prst="rect">
            <a:avLst/>
          </a:prstGeom>
          <a:noFill/>
        </p:spPr>
        <p:txBody>
          <a:bodyPr wrap="none" anchor="ctr">
            <a:spAutoFit/>
          </a:bodyPr>
          <a:lstStyle/>
          <a:p>
            <a:r>
              <a:rPr sz="1100">
                <a:solidFill>
                  <a:srgbClr val="A0B9D2"/>
                </a:solidFill>
                <a:latin typeface="Segoe UI Light"/>
              </a:rPr>
              <a:t>TIH IIT Guwahati Internship Report</a:t>
            </a:r>
          </a:p>
        </p:txBody>
      </p:sp>
      <p:sp>
        <p:nvSpPr>
          <p:cNvPr id="14" name="TextBox 13"/>
          <p:cNvSpPr txBox="1"/>
          <p:nvPr/>
        </p:nvSpPr>
        <p:spPr>
          <a:xfrm>
            <a:off x="10789920" y="6492240"/>
            <a:ext cx="1097280" cy="365760"/>
          </a:xfrm>
          <a:prstGeom prst="rect">
            <a:avLst/>
          </a:prstGeom>
          <a:noFill/>
        </p:spPr>
        <p:txBody>
          <a:bodyPr wrap="none" anchor="ctr">
            <a:spAutoFit/>
          </a:bodyPr>
          <a:lstStyle/>
          <a:p>
            <a:pPr algn="r">
              <a:defRPr sz="1300" b="1">
                <a:solidFill>
                  <a:srgbClr val="FFFFFF"/>
                </a:solidFill>
                <a:latin typeface="Segoe UI Semibold"/>
              </a:defRPr>
            </a:pPr>
            <a:r>
              <a:t>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84</TotalTime>
  <Words>2893</Words>
  <Application>Microsoft Office PowerPoint</Application>
  <PresentationFormat>Widescreen</PresentationFormat>
  <Paragraphs>334</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Amasis MT Pro</vt:lpstr>
      <vt:lpstr>Arial</vt:lpstr>
      <vt:lpstr>Calibri</vt:lpstr>
      <vt:lpstr>Segoe UI</vt:lpstr>
      <vt:lpstr>Segoe UI Light</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mayureekhanikar@gmail.com</cp:lastModifiedBy>
  <cp:revision>3</cp:revision>
  <dcterms:created xsi:type="dcterms:W3CDTF">2013-01-27T09:14:16Z</dcterms:created>
  <dcterms:modified xsi:type="dcterms:W3CDTF">2026-07-13T09:37:21Z</dcterms:modified>
  <cp:category/>
</cp:coreProperties>
</file>